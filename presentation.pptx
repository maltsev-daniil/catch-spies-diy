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jPPLNRLcmVOYnh+k5mDG93LWTV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Наша задача звучала как поиск шпиона по данным о пассажирах и перелётах. На входе мы получили семь файлов совершенно разных форматов. В них не было единой таблицы, общего порядка полей и одинакового способа записывать имена или даты. Поэтому нельзя было просто открыть файл и увидеть ответ. Мы сначала подготовили данные, затем сформулировали критерии подозрительной активности и проверили найденные случаи. В докладе покажем именно этот путь. Главный кейс, который мы установили при ручной проверке, связан с именами GORDEI GLEBOV и RAMIL BUROV. Но к нему мы подойдём постепенно, чтобы было понятно, откуда взялся вывод.</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Мы разбили работу на четыре части. Первая — понять, что хранится в каждом источнике. Вторая — привести записи к общей схеме, чтобы одинаковые сведения можно было сравнивать. Третья — построить сущности: пассажира, рейс, билет и программу лояльности. И четвёртая — проверить критерии и расставить найденные случаи по приоритету. Такой порядок защищает от простых ошибок. Например, если считать частоту поездок до удаления дублей, один и тот же рейс может искусственно увеличить показатель. А если сравнивать пассажиров только по написанию имени, можно пропустить запись на кириллице или ошибочно объединить однофамильцев.</a:t>
            </a:r>
            <a:endParaRPr/>
          </a:p>
        </p:txBody>
      </p:sp>
      <p:sp>
        <p:nvSpPr>
          <p:cNvPr id="38" name="Google Shape;3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Файлы покрывали разные стороны одной истории. CSV, TAB и XLSX содержали пассажирские и посадочные сведения. YAML и XML давали информацию о рейсах и программах лояльности. JSON содержал профили форума часто летающих пассажиров. Отдельно был PDF с расписанием. Мы его просмотрели, но в расчёт не включили: расписание относилось к более новым датам, чем билеты в нашем наборе. Это важное решение, потому что внешне подходящая таблица может испортить вывод, если её временной период не совпадает с исследуемым. Шесть пригодных источников после разбора дали около 4,36 миллиона строк в промежуточных таблицах.</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Источники: lake/done_tables/*.csv; сведения команды о timetable.pdf</a:t>
            </a:r>
            <a:endParaRPr/>
          </a:p>
        </p:txBody>
      </p:sp>
      <p:sp>
        <p:nvSpPr>
          <p:cNvPr id="57" name="Google Shape;5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Самая понятная проблема — разные написания русских имён. IAROSLAV и YAROSLAV выглядят как два значения, хотя могут относиться к одному человеку. Были записи кириллицей, сокращённые отчества, пропущенные документы и даты в разных форматах. В таких условиях точное совпадение строк слишком строгое, а свободное сопоставление по имени слишком рискованно. Поэтому мы не пытались одним действием «исправить всё». Сначала разобрали поля по источникам, сохранили исходные значения и привели сравнимые записи к общему виду. Отдельно решали, какие сведения дают основание связать записи одного пассажира.</a:t>
            </a:r>
            <a:endParaRPr/>
          </a:p>
        </p:txBody>
      </p:sp>
      <p:sp>
        <p:nvSpPr>
          <p:cNvPr id="85" name="Google Shape;8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Мы составили общую схему примерно из 55 полей. Для каждого формата написали свой разбор: он переносит то, что реально есть в файле, в подходящие столбцы. Если поле отсутствует, оно остаётся пустым, а не заполняется догадкой. Далее нормализовали даты и варианты имён. Это помогло уменьшить шум, но важно уточнить устройство именно показанного сегодня расчёта. Отчёт с восемью критериями использует четыре итоговые таблицы и сравнивает значения в них буквально. Поэтому общая нормализация проекта и конкретный рейтинг — соседние этапы, которые ещё можно лучше согласовать. На ключевой найденный конфликт это не влияет: два имени и две даты рождения связаны одним и тем же документом.</a:t>
            </a:r>
            <a:endParaRPr/>
          </a:p>
        </p:txBody>
      </p:sp>
      <p:sp>
        <p:nvSpPr>
          <p:cNvPr id="99" name="Google Shape;9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В общей модели мы выделили четыре сущности. Пассажир хранит ФИО, документ и дату рождения. Рейс задаёт дату, номер и маршрут. Билет связывает пассажира с рейсом и временем. Программа лояльности связывает документ, номер карты и код программы. Это не просто способ аккуратно хранить данные. От структуры зависит, какие вопросы можно задать. Мы можем проверить, не встречаются ли разные имена у одного документа, сколько рейсов связано с человеком за месяц и повторяются ли поездки с одним спутником. Класс бронирования, тариф и другие детали мы сохраняли, но для выбранных критериев они не были центральными.</a:t>
            </a:r>
            <a:endParaRPr/>
          </a:p>
        </p:txBody>
      </p:sp>
      <p:sp>
        <p:nvSpPr>
          <p:cNvPr id="113" name="Google Shape;11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Всего критериев восемь. Первые три ищут противоречия в данных: разные имена по одному документу, разные даты рождения и связь одной карты лояльности с разными документами одинаковой длины. Дальше идут признаки поездок: многократные совместные рейсы с другим пассажиром и десять или больше рейсов за календарный месяц. Два правила связаны со временем: пересекающиеся интервалы рейсов и вылет из другой страны в течение часа после прилёта. Последним мы проверяли возраст 60 лет и старше на дату последнего билета. Этот возрастной критерий был экспериментальным: мы пробовали разные срезы данных, но самостоятельной смысловой нагрузки для вывода о шпионе он не дал.</a:t>
            </a:r>
            <a:endParaRPr/>
          </a:p>
        </p:txBody>
      </p:sp>
      <p:sp>
        <p:nvSpPr>
          <p:cNvPr id="132" name="Google Shape;132;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Самый частый признак — пересечение двух разных рейсов по записанному времени: 107 документов. Десять и более рейсов за месяц дали 67, совместные рейсы — 49, переход между странами за час — 22. Противоречия по имени и дате рождения встретились по одному разу, причём это тот самый документ из главного кейса. Карта лояльности по заданному правилу и возрастной порог совпадений не дали. Эти количества не надо складывать: один документ может попасть сразу в несколько групп. И особенно осторожно мы относимся ко времени. Без пересчёта местных часов к общей временной шкале число временных срабатываний не равно числу физически невозможных поездок.</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Источники: passenger_criteria.md, сводная таблица</a:t>
            </a:r>
            <a:endParaRPr/>
          </a:p>
        </p:txBody>
      </p:sp>
      <p:sp>
        <p:nvSpPr>
          <p:cNvPr id="145" name="Google Shape;145;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Теперь посмотрим на реальный пример. В посадочных данных есть запись GORDEI GLEBOV. Документ заканчивается на 3778, дата рождения — 31 декабря 1982 года. Для одного из рейсов указаны 16 января, номер SU1057 и билет, заканчивающийся на 8171. Пока это обычная запись о пассажире. Сама по себе она ничего подозрительного не сообщает. Но у неё есть важные идентификаторы: документ, билет, дата и номер рейса. Именно по этим полям можно проверить, есть ли независимое подтверждение в другом источнике, а затем проследить, что ещё связано с тем же документом.</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Источники: lake/done_tables/boarding_csv.csv:92876</a:t>
            </a:r>
            <a:endParaRPr/>
          </a:p>
        </p:txBody>
      </p:sp>
      <p:sp>
        <p:nvSpPr>
          <p:cNvPr id="169" name="Google Shape;16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По тому же номеру документа, заканчивающемуся на 3778, находится уже другой пассажир: RAMIL BUROV. Его дата рождения — 24 августа 1995 года. И для него тоже есть согласованная пара записей в посадочных данных и Sirena: рейс SU1273 от 3 января и билет, заканчивающийся на 6045. Поэтому проблема не сводится к одной случайной букве в имени. У нас две отдельные цепочки записей, каждая выглядит внутренне согласованной, но обе сходятся на одном документе. Сделаем здесь короткую паузу: именно такой момент показывает, зачем было связывать источники, а не просто искать странные строки в одном файле.</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Источники: lake/done_tables/boarding_csv.csv:150153; lake/done_tables/sirena_tab.csv:150694</a:t>
            </a:r>
            <a:endParaRPr/>
          </a:p>
        </p:txBody>
      </p:sp>
      <p:sp>
        <p:nvSpPr>
          <p:cNvPr id="182" name="Google Shape;18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Автоматическая проверка увидела два грубых противоречия. Для одного документа есть разные сочетания имени и фамилии, а также две разные даты рождения. В рейтинге это дало 15 баллов: восемь за имя и семь за дату рождения. Но баллы сами по себе не объявляют человека шпионом. Они только поднимают случай наверх. Затем команда вручную проверила этот кейс и установила, что именно он соответствует искомому шпиону. Поэтому на слайде мы разделяем два уровня вывода: алгоритм нашёл конфликт по документу, а заключение о шпионе — результат командной проверки. Остальные записи в рейтинге пока имеют статус подозрительных случаев, требующих дальнейшего исследования.</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Источники: passenger_criteria.md, критерии 1–2; suspect_ranking.md, место 1</a:t>
            </a:r>
            <a:endParaRPr/>
          </a:p>
        </p:txBody>
      </p:sp>
      <p:sp>
        <p:nvSpPr>
          <p:cNvPr id="195" name="Google Shape;195;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В итоговых таблицах пассажиров и билетов было 101 тысяча 662 уникальных значения документа. Хотя бы один критерий сработал для 197 документов. В рейтинг мы взяли документы, у которых совпали два правила или больше. Таких оказалось 50. Это уже объём, который реально просматривать вручную. Но здесь есть важная техническая оговорка: единицей расчёта является значение поля PassengerDocument. Оно не всегда тождественно доказанному человеку. Наш главный кейс как раз показывает, почему это различие важно: один номер оказался связан с двумя личностями в данных. Поэтому воронка показывает, как мы сузили проверку, а не сколько людей у нас точно подозрительны.</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Источники: passenger_criteria.md; suspect_ranking.md</a:t>
            </a:r>
            <a:endParaRPr/>
          </a:p>
        </p:txBody>
      </p:sp>
      <p:sp>
        <p:nvSpPr>
          <p:cNvPr id="210" name="Google Shape;210;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Мы задали веса, чтобы сначала смотреть на наиболее грубые нарушения. Разные имена при одном документе дают восемь баллов, разные даты рождения — семь. Быстрый переход между странами тоже семь. Пересечение рейсов — три, совместные рейсы — два, остальные правила — по одному. Каждый критерий учитывается один раз на документ, даже если совпадение повторялось. При изменении разумных весов главный случай остаётся наверху: конфликт имени и даты рождения слишком заметен. Но мы не называем 15 баллов вероятностью шпионажа. Это порядок просмотра. После паузы на слайде мы увидим, как тот же подход работает для второго места, где вывод уже не такой определённый.</a:t>
            </a:r>
            <a:endParaRPr/>
          </a:p>
        </p:txBody>
      </p:sp>
      <p:sp>
        <p:nvSpPr>
          <p:cNvPr id="225" name="Google Shape;225;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Второе место заняла NATALIA ROMANOVA с девятью баллами. Для неё найден спутник, с которым совпали пять рейсов, а также записан очень короткий промежуток между прилётом SU1491 и следующим вылетом AZ404 4 февраля 2017 года: 14:30 и 14:55. По записанным часам это 25 минут. Команда проверила этот случай, но пока оставила его под подозрением. Для дальнейшего вывода нужно уточнить аэропорты и перевести местное время в общую шкалу. Здесь хорошо видно, почему мы не приравниваем место в топе к доказательству. Два критерия создают вопрос, а ответ требует проверки первичных данных.</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Источники: suspect_ranking.md, место 2</a:t>
            </a:r>
            <a:endParaRPr/>
          </a:p>
        </p:txBody>
      </p:sp>
      <p:sp>
        <p:nvSpPr>
          <p:cNvPr id="240" name="Google Shape;240;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По первому документу команда установила искомый случай. По другим документам мы пока говорим только о сигналах. Временные правила требуют пересчёта часовых поясов: данные записаны по местному времени аэропорта, а единая временная шкала не строилась. Посадочные данные мы используем как подтверждение перелёта, но связь человека с рейсом всё равно должна опираться на согласование документа, билета и номера рейса. Отдельно остаётся вопрос буквального сравнения итоговых CSV в отчёте с восемью критериями: в будущем его стоит согласовать с общим этапом нормализации. Эти ограничения не обесценивают результат; они показывают, какие проверки необходимы для остальных кандидатов.</a:t>
            </a:r>
            <a:endParaRPr/>
          </a:p>
        </p:txBody>
      </p:sp>
      <p:sp>
        <p:nvSpPr>
          <p:cNvPr id="254" name="Google Shape;254;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Мы начали с семи разнородных файлов, исключили расписание с неподходящим временным периодом и разобрали шесть источников в общую схему. На их основе выделили основные сущности и проверили восемь критериев. Из 101 тысячи 662 документов 197 получили хотя бы один сигнал, а 50 попали в список с двумя и более признаками. Сквозной пример показал главное преимущество такого подхода: две согласованные цепочки из разных источников сошлись на одном документе, но указали разные имена и даты рождения. Алгоритм поднял этот конфликт на первое место, после чего команда подтвердила искомый случай. Остальной рейтинг остаётся планом дальнейшего исследования.</a:t>
            </a:r>
            <a:endParaRPr/>
          </a:p>
        </p:txBody>
      </p:sp>
      <p:sp>
        <p:nvSpPr>
          <p:cNvPr id="267" name="Google Shape;267;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1"/>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9pPr>
          </a:lstStyle>
          <a:p/>
        </p:txBody>
      </p:sp>
      <p:sp>
        <p:nvSpPr>
          <p:cNvPr id="13" name="Google Shape;13;p21"/>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22"/>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200"/>
              <a:buFont typeface="Arial"/>
              <a:buNone/>
              <a:defRPr b="1" i="0" sz="42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23"/>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18" name="Google Shape;18;p23"/>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24"/>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1" name="Google Shape;21;p24"/>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
        <p:nvSpPr>
          <p:cNvPr id="22" name="Google Shape;22;p24"/>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2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5" name="Google Shape;25;p25"/>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A25"/>
        </a:solidFill>
      </p:bgPr>
    </p:bg>
    <p:spTree>
      <p:nvGrpSpPr>
        <p:cNvPr id="30" name="Shape 30"/>
        <p:cNvGrpSpPr/>
        <p:nvPr/>
      </p:nvGrpSpPr>
      <p:grpSpPr>
        <a:xfrm>
          <a:off x="0" y="0"/>
          <a:ext cx="0" cy="0"/>
          <a:chOff x="0" y="0"/>
          <a:chExt cx="0" cy="0"/>
        </a:xfrm>
      </p:grpSpPr>
      <p:pic>
        <p:nvPicPr>
          <p:cNvPr id="31" name="Google Shape;31;p1"/>
          <p:cNvPicPr preferRelativeResize="0"/>
          <p:nvPr/>
        </p:nvPicPr>
        <p:blipFill rotWithShape="1">
          <a:blip r:embed="rId3">
            <a:alphaModFix/>
          </a:blip>
          <a:srcRect b="27" l="0" r="0" t="27"/>
          <a:stretch/>
        </p:blipFill>
        <p:spPr>
          <a:xfrm>
            <a:off x="0" y="-23486"/>
            <a:ext cx="12191998" cy="6858001"/>
          </a:xfrm>
          <a:prstGeom prst="rect">
            <a:avLst/>
          </a:prstGeom>
          <a:noFill/>
          <a:ln>
            <a:noFill/>
          </a:ln>
        </p:spPr>
      </p:pic>
      <p:sp>
        <p:nvSpPr>
          <p:cNvPr id="32" name="Google Shape;32;p1"/>
          <p:cNvSpPr/>
          <p:nvPr/>
        </p:nvSpPr>
        <p:spPr>
          <a:xfrm>
            <a:off x="685800" y="1714500"/>
            <a:ext cx="857250" cy="85725"/>
          </a:xfrm>
          <a:prstGeom prst="rect">
            <a:avLst/>
          </a:prstGeom>
          <a:solidFill>
            <a:srgbClr val="F1A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685800" y="2238375"/>
            <a:ext cx="7334250" cy="20002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4500">
              <a:solidFill>
                <a:srgbClr val="F9FAFB"/>
              </a:solidFill>
              <a:highlight>
                <a:srgbClr val="151517"/>
              </a:highlight>
            </a:endParaRPr>
          </a:p>
          <a:p>
            <a:pPr indent="0" lvl="0" marL="0" marR="0" rtl="0" algn="l">
              <a:spcBef>
                <a:spcPts val="0"/>
              </a:spcBef>
              <a:spcAft>
                <a:spcPts val="0"/>
              </a:spcAft>
              <a:buNone/>
            </a:pPr>
            <a:r>
              <a:rPr b="1" lang="en-US" sz="4500">
                <a:solidFill>
                  <a:srgbClr val="F9FAFB"/>
                </a:solidFill>
                <a:highlight>
                  <a:srgbClr val="151517"/>
                </a:highlight>
              </a:rPr>
              <a:t>«Пассажир под подозрением»: поиск аномалий в авиаданных</a:t>
            </a:r>
            <a:endParaRPr b="1" sz="4500">
              <a:solidFill>
                <a:srgbClr val="F9FAFB"/>
              </a:solidFill>
              <a:highlight>
                <a:srgbClr val="151517"/>
              </a:highlight>
            </a:endParaRPr>
          </a:p>
          <a:p>
            <a:pPr indent="0" lvl="0" marL="0" marR="0" rtl="0" algn="l">
              <a:spcBef>
                <a:spcPts val="0"/>
              </a:spcBef>
              <a:spcAft>
                <a:spcPts val="0"/>
              </a:spcAft>
              <a:buNone/>
            </a:pPr>
            <a:r>
              <a:t/>
            </a:r>
            <a:endParaRPr b="1" sz="4575">
              <a:solidFill>
                <a:srgbClr val="F8F7F2"/>
              </a:solidFill>
            </a:endParaRPr>
          </a:p>
        </p:txBody>
      </p:sp>
      <p:sp>
        <p:nvSpPr>
          <p:cNvPr id="34" name="Google Shape;34;p1"/>
          <p:cNvSpPr/>
          <p:nvPr/>
        </p:nvSpPr>
        <p:spPr>
          <a:xfrm>
            <a:off x="714375" y="5334000"/>
            <a:ext cx="6858000" cy="619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00">
                <a:solidFill>
                  <a:srgbClr val="E7E2D9"/>
                </a:solidFill>
              </a:rPr>
              <a:t>7 файлов  ·  8 критериев</a:t>
            </a:r>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9"/>
        </a:solidFill>
      </p:bgPr>
    </p:bg>
    <p:spTree>
      <p:nvGrpSpPr>
        <p:cNvPr id="39" name="Shape 39"/>
        <p:cNvGrpSpPr/>
        <p:nvPr/>
      </p:nvGrpSpPr>
      <p:grpSpPr>
        <a:xfrm>
          <a:off x="0" y="0"/>
          <a:ext cx="0" cy="0"/>
          <a:chOff x="0" y="0"/>
          <a:chExt cx="0" cy="0"/>
        </a:xfrm>
      </p:grpSpPr>
      <p:sp>
        <p:nvSpPr>
          <p:cNvPr id="40" name="Google Shape;40;p2"/>
          <p:cNvSpPr/>
          <p:nvPr/>
        </p:nvSpPr>
        <p:spPr>
          <a:xfrm>
            <a:off x="609600" y="419100"/>
            <a:ext cx="10572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775">
                <a:solidFill>
                  <a:srgbClr val="142735"/>
                </a:solidFill>
              </a:rPr>
              <a:t>Маршрут расследования</a:t>
            </a:r>
            <a:endParaRPr/>
          </a:p>
        </p:txBody>
      </p:sp>
      <p:sp>
        <p:nvSpPr>
          <p:cNvPr id="41" name="Google Shape;41;p2"/>
          <p:cNvSpPr/>
          <p:nvPr/>
        </p:nvSpPr>
        <p:spPr>
          <a:xfrm>
            <a:off x="609600" y="1228725"/>
            <a:ext cx="1097280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5C6E76"/>
                </a:solidFill>
              </a:rPr>
              <a:t>02</a:t>
            </a:r>
            <a:endParaRPr/>
          </a:p>
        </p:txBody>
      </p:sp>
      <p:sp>
        <p:nvSpPr>
          <p:cNvPr id="43" name="Google Shape;43;p2"/>
          <p:cNvSpPr/>
          <p:nvPr/>
        </p:nvSpPr>
        <p:spPr>
          <a:xfrm>
            <a:off x="695325" y="1809750"/>
            <a:ext cx="93345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625">
                <a:solidFill>
                  <a:srgbClr val="D56F4B"/>
                </a:solidFill>
              </a:rPr>
              <a:t>01</a:t>
            </a:r>
            <a:endParaRPr/>
          </a:p>
        </p:txBody>
      </p:sp>
      <p:sp>
        <p:nvSpPr>
          <p:cNvPr id="44" name="Google Shape;44;p2"/>
          <p:cNvSpPr/>
          <p:nvPr/>
        </p:nvSpPr>
        <p:spPr>
          <a:xfrm>
            <a:off x="1809750" y="1809750"/>
            <a:ext cx="85725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325">
                <a:solidFill>
                  <a:srgbClr val="142735"/>
                </a:solidFill>
              </a:rPr>
              <a:t>Исходные файлы</a:t>
            </a:r>
            <a:endParaRPr/>
          </a:p>
        </p:txBody>
      </p:sp>
      <p:sp>
        <p:nvSpPr>
          <p:cNvPr id="45" name="Google Shape;45;p2"/>
          <p:cNvSpPr/>
          <p:nvPr/>
        </p:nvSpPr>
        <p:spPr>
          <a:xfrm>
            <a:off x="647700" y="2590800"/>
            <a:ext cx="1076325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695325" y="2809875"/>
            <a:ext cx="93345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625">
                <a:solidFill>
                  <a:srgbClr val="D56F4B"/>
                </a:solidFill>
              </a:rPr>
              <a:t>02</a:t>
            </a:r>
            <a:endParaRPr/>
          </a:p>
        </p:txBody>
      </p:sp>
      <p:sp>
        <p:nvSpPr>
          <p:cNvPr id="47" name="Google Shape;47;p2"/>
          <p:cNvSpPr/>
          <p:nvPr/>
        </p:nvSpPr>
        <p:spPr>
          <a:xfrm>
            <a:off x="1809750" y="2809875"/>
            <a:ext cx="85725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325">
                <a:solidFill>
                  <a:srgbClr val="142735"/>
                </a:solidFill>
              </a:rPr>
              <a:t>Общая схема</a:t>
            </a:r>
            <a:endParaRPr/>
          </a:p>
        </p:txBody>
      </p:sp>
      <p:sp>
        <p:nvSpPr>
          <p:cNvPr id="48" name="Google Shape;48;p2"/>
          <p:cNvSpPr/>
          <p:nvPr/>
        </p:nvSpPr>
        <p:spPr>
          <a:xfrm>
            <a:off x="647700" y="3590925"/>
            <a:ext cx="1076325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695325" y="3810000"/>
            <a:ext cx="93345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625">
                <a:solidFill>
                  <a:srgbClr val="D56F4B"/>
                </a:solidFill>
              </a:rPr>
              <a:t>03</a:t>
            </a:r>
            <a:endParaRPr/>
          </a:p>
        </p:txBody>
      </p:sp>
      <p:sp>
        <p:nvSpPr>
          <p:cNvPr id="50" name="Google Shape;50;p2"/>
          <p:cNvSpPr/>
          <p:nvPr/>
        </p:nvSpPr>
        <p:spPr>
          <a:xfrm>
            <a:off x="1809750" y="3810000"/>
            <a:ext cx="85725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325">
                <a:solidFill>
                  <a:srgbClr val="142735"/>
                </a:solidFill>
              </a:rPr>
              <a:t>Критерии</a:t>
            </a:r>
            <a:endParaRPr/>
          </a:p>
        </p:txBody>
      </p:sp>
      <p:sp>
        <p:nvSpPr>
          <p:cNvPr id="51" name="Google Shape;51;p2"/>
          <p:cNvSpPr/>
          <p:nvPr/>
        </p:nvSpPr>
        <p:spPr>
          <a:xfrm>
            <a:off x="647700" y="4591050"/>
            <a:ext cx="1076325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695325" y="4810125"/>
            <a:ext cx="93345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625">
                <a:solidFill>
                  <a:srgbClr val="D56F4B"/>
                </a:solidFill>
              </a:rPr>
              <a:t>04</a:t>
            </a:r>
            <a:endParaRPr/>
          </a:p>
        </p:txBody>
      </p:sp>
      <p:sp>
        <p:nvSpPr>
          <p:cNvPr id="53" name="Google Shape;53;p2"/>
          <p:cNvSpPr/>
          <p:nvPr/>
        </p:nvSpPr>
        <p:spPr>
          <a:xfrm>
            <a:off x="1809750" y="4810125"/>
            <a:ext cx="85725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325">
                <a:solidFill>
                  <a:srgbClr val="142735"/>
                </a:solidFill>
              </a:rPr>
              <a:t>Найденные подозреваемые</a:t>
            </a:r>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9"/>
        </a:solidFill>
      </p:bgPr>
    </p:bg>
    <p:spTree>
      <p:nvGrpSpPr>
        <p:cNvPr id="58" name="Shape 58"/>
        <p:cNvGrpSpPr/>
        <p:nvPr/>
      </p:nvGrpSpPr>
      <p:grpSpPr>
        <a:xfrm>
          <a:off x="0" y="0"/>
          <a:ext cx="0" cy="0"/>
          <a:chOff x="0" y="0"/>
          <a:chExt cx="0" cy="0"/>
        </a:xfrm>
      </p:grpSpPr>
      <p:sp>
        <p:nvSpPr>
          <p:cNvPr id="59" name="Google Shape;59;p3"/>
          <p:cNvSpPr/>
          <p:nvPr/>
        </p:nvSpPr>
        <p:spPr>
          <a:xfrm>
            <a:off x="609600" y="419100"/>
            <a:ext cx="10572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775">
                <a:solidFill>
                  <a:srgbClr val="142735"/>
                </a:solidFill>
              </a:rPr>
              <a:t>Семь файлов, шесть в расчёте</a:t>
            </a:r>
            <a:endParaRPr/>
          </a:p>
        </p:txBody>
      </p:sp>
      <p:sp>
        <p:nvSpPr>
          <p:cNvPr id="60" name="Google Shape;60;p3"/>
          <p:cNvSpPr/>
          <p:nvPr/>
        </p:nvSpPr>
        <p:spPr>
          <a:xfrm>
            <a:off x="609600" y="1228725"/>
            <a:ext cx="1097280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5C6E76"/>
                </a:solidFill>
              </a:rPr>
              <a:t>03</a:t>
            </a:r>
            <a:endParaRPr/>
          </a:p>
        </p:txBody>
      </p:sp>
      <p:sp>
        <p:nvSpPr>
          <p:cNvPr id="62" name="Google Shape;62;p3"/>
          <p:cNvSpPr/>
          <p:nvPr/>
        </p:nvSpPr>
        <p:spPr>
          <a:xfrm>
            <a:off x="733425" y="1600200"/>
            <a:ext cx="2000250"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142735"/>
                </a:solidFill>
              </a:rPr>
              <a:t>YAML</a:t>
            </a:r>
            <a:endParaRPr/>
          </a:p>
        </p:txBody>
      </p:sp>
      <p:sp>
        <p:nvSpPr>
          <p:cNvPr id="63" name="Google Shape;63;p3"/>
          <p:cNvSpPr/>
          <p:nvPr/>
        </p:nvSpPr>
        <p:spPr>
          <a:xfrm>
            <a:off x="3295650" y="1600200"/>
            <a:ext cx="2952750"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75">
                <a:solidFill>
                  <a:srgbClr val="347E83"/>
                </a:solidFill>
              </a:rPr>
              <a:t>1 687 053</a:t>
            </a:r>
            <a:endParaRPr/>
          </a:p>
        </p:txBody>
      </p:sp>
      <p:sp>
        <p:nvSpPr>
          <p:cNvPr id="64" name="Google Shape;64;p3"/>
          <p:cNvSpPr/>
          <p:nvPr/>
        </p:nvSpPr>
        <p:spPr>
          <a:xfrm>
            <a:off x="6372225" y="1600200"/>
            <a:ext cx="4638675"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00">
                <a:solidFill>
                  <a:srgbClr val="5C6E76"/>
                </a:solidFill>
              </a:rPr>
              <a:t>строк после разбора</a:t>
            </a:r>
            <a:endParaRPr/>
          </a:p>
        </p:txBody>
      </p:sp>
      <p:sp>
        <p:nvSpPr>
          <p:cNvPr id="65" name="Google Shape;65;p3"/>
          <p:cNvSpPr/>
          <p:nvPr/>
        </p:nvSpPr>
        <p:spPr>
          <a:xfrm>
            <a:off x="733425" y="2247900"/>
            <a:ext cx="2000250"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142735"/>
                </a:solidFill>
              </a:rPr>
              <a:t>JSON</a:t>
            </a:r>
            <a:endParaRPr/>
          </a:p>
        </p:txBody>
      </p:sp>
      <p:sp>
        <p:nvSpPr>
          <p:cNvPr id="66" name="Google Shape;66;p3"/>
          <p:cNvSpPr/>
          <p:nvPr/>
        </p:nvSpPr>
        <p:spPr>
          <a:xfrm>
            <a:off x="3295650" y="2247900"/>
            <a:ext cx="2952750"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75">
                <a:solidFill>
                  <a:srgbClr val="347E83"/>
                </a:solidFill>
              </a:rPr>
              <a:t>1 308 987</a:t>
            </a:r>
            <a:endParaRPr/>
          </a:p>
        </p:txBody>
      </p:sp>
      <p:sp>
        <p:nvSpPr>
          <p:cNvPr id="67" name="Google Shape;67;p3"/>
          <p:cNvSpPr/>
          <p:nvPr/>
        </p:nvSpPr>
        <p:spPr>
          <a:xfrm>
            <a:off x="6372225" y="2247900"/>
            <a:ext cx="4638675"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00">
                <a:solidFill>
                  <a:srgbClr val="5C6E76"/>
                </a:solidFill>
              </a:rPr>
              <a:t>строк после разбора</a:t>
            </a:r>
            <a:endParaRPr/>
          </a:p>
        </p:txBody>
      </p:sp>
      <p:sp>
        <p:nvSpPr>
          <p:cNvPr id="68" name="Google Shape;68;p3"/>
          <p:cNvSpPr/>
          <p:nvPr/>
        </p:nvSpPr>
        <p:spPr>
          <a:xfrm>
            <a:off x="733425" y="2895600"/>
            <a:ext cx="2000250"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142735"/>
                </a:solidFill>
              </a:rPr>
              <a:t>XLSX</a:t>
            </a:r>
            <a:endParaRPr/>
          </a:p>
        </p:txBody>
      </p:sp>
      <p:sp>
        <p:nvSpPr>
          <p:cNvPr id="69" name="Google Shape;69;p3"/>
          <p:cNvSpPr/>
          <p:nvPr/>
        </p:nvSpPr>
        <p:spPr>
          <a:xfrm>
            <a:off x="3295650" y="2895600"/>
            <a:ext cx="2952750"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75">
                <a:solidFill>
                  <a:srgbClr val="347E83"/>
                </a:solidFill>
              </a:rPr>
              <a:t>615 771</a:t>
            </a:r>
            <a:endParaRPr/>
          </a:p>
        </p:txBody>
      </p:sp>
      <p:sp>
        <p:nvSpPr>
          <p:cNvPr id="70" name="Google Shape;70;p3"/>
          <p:cNvSpPr/>
          <p:nvPr/>
        </p:nvSpPr>
        <p:spPr>
          <a:xfrm>
            <a:off x="6372225" y="2895600"/>
            <a:ext cx="4638675"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00">
                <a:solidFill>
                  <a:srgbClr val="5C6E76"/>
                </a:solidFill>
              </a:rPr>
              <a:t>строк после разбора</a:t>
            </a:r>
            <a:endParaRPr/>
          </a:p>
        </p:txBody>
      </p:sp>
      <p:sp>
        <p:nvSpPr>
          <p:cNvPr id="71" name="Google Shape;71;p3"/>
          <p:cNvSpPr/>
          <p:nvPr/>
        </p:nvSpPr>
        <p:spPr>
          <a:xfrm>
            <a:off x="733425" y="3543300"/>
            <a:ext cx="2000250"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142735"/>
                </a:solidFill>
              </a:rPr>
              <a:t>XML</a:t>
            </a:r>
            <a:endParaRPr/>
          </a:p>
        </p:txBody>
      </p:sp>
      <p:sp>
        <p:nvSpPr>
          <p:cNvPr id="72" name="Google Shape;72;p3"/>
          <p:cNvSpPr/>
          <p:nvPr/>
        </p:nvSpPr>
        <p:spPr>
          <a:xfrm>
            <a:off x="3295650" y="3543300"/>
            <a:ext cx="2952750"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75">
                <a:solidFill>
                  <a:srgbClr val="347E83"/>
                </a:solidFill>
              </a:rPr>
              <a:t>436 090</a:t>
            </a:r>
            <a:endParaRPr/>
          </a:p>
        </p:txBody>
      </p:sp>
      <p:sp>
        <p:nvSpPr>
          <p:cNvPr id="73" name="Google Shape;73;p3"/>
          <p:cNvSpPr/>
          <p:nvPr/>
        </p:nvSpPr>
        <p:spPr>
          <a:xfrm>
            <a:off x="6372225" y="3543300"/>
            <a:ext cx="4638675"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00">
                <a:solidFill>
                  <a:srgbClr val="5C6E76"/>
                </a:solidFill>
              </a:rPr>
              <a:t>строк после разбора</a:t>
            </a:r>
            <a:endParaRPr/>
          </a:p>
        </p:txBody>
      </p:sp>
      <p:sp>
        <p:nvSpPr>
          <p:cNvPr id="74" name="Google Shape;74;p3"/>
          <p:cNvSpPr/>
          <p:nvPr/>
        </p:nvSpPr>
        <p:spPr>
          <a:xfrm>
            <a:off x="733425" y="4191000"/>
            <a:ext cx="2000250"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142735"/>
                </a:solidFill>
              </a:rPr>
              <a:t>TAB</a:t>
            </a:r>
            <a:endParaRPr/>
          </a:p>
        </p:txBody>
      </p:sp>
      <p:sp>
        <p:nvSpPr>
          <p:cNvPr id="75" name="Google Shape;75;p3"/>
          <p:cNvSpPr/>
          <p:nvPr/>
        </p:nvSpPr>
        <p:spPr>
          <a:xfrm>
            <a:off x="3295650" y="4191000"/>
            <a:ext cx="2952750"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75">
                <a:solidFill>
                  <a:srgbClr val="347E83"/>
                </a:solidFill>
              </a:rPr>
              <a:t>155 757</a:t>
            </a:r>
            <a:endParaRPr/>
          </a:p>
        </p:txBody>
      </p:sp>
      <p:sp>
        <p:nvSpPr>
          <p:cNvPr id="76" name="Google Shape;76;p3"/>
          <p:cNvSpPr/>
          <p:nvPr/>
        </p:nvSpPr>
        <p:spPr>
          <a:xfrm>
            <a:off x="6372225" y="4191000"/>
            <a:ext cx="4638675"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00">
                <a:solidFill>
                  <a:srgbClr val="5C6E76"/>
                </a:solidFill>
              </a:rPr>
              <a:t>строк после разбора</a:t>
            </a:r>
            <a:endParaRPr/>
          </a:p>
        </p:txBody>
      </p:sp>
      <p:sp>
        <p:nvSpPr>
          <p:cNvPr id="77" name="Google Shape;77;p3"/>
          <p:cNvSpPr/>
          <p:nvPr/>
        </p:nvSpPr>
        <p:spPr>
          <a:xfrm>
            <a:off x="733425" y="4838700"/>
            <a:ext cx="2000250"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142735"/>
                </a:solidFill>
              </a:rPr>
              <a:t>CSV</a:t>
            </a:r>
            <a:endParaRPr/>
          </a:p>
        </p:txBody>
      </p:sp>
      <p:sp>
        <p:nvSpPr>
          <p:cNvPr id="78" name="Google Shape;78;p3"/>
          <p:cNvSpPr/>
          <p:nvPr/>
        </p:nvSpPr>
        <p:spPr>
          <a:xfrm>
            <a:off x="3295650" y="4838700"/>
            <a:ext cx="2952750"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75">
                <a:solidFill>
                  <a:srgbClr val="347E83"/>
                </a:solidFill>
              </a:rPr>
              <a:t>155 147</a:t>
            </a:r>
            <a:endParaRPr/>
          </a:p>
        </p:txBody>
      </p:sp>
      <p:sp>
        <p:nvSpPr>
          <p:cNvPr id="79" name="Google Shape;79;p3"/>
          <p:cNvSpPr/>
          <p:nvPr/>
        </p:nvSpPr>
        <p:spPr>
          <a:xfrm>
            <a:off x="6372225" y="4838700"/>
            <a:ext cx="4638675" cy="4857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00">
                <a:solidFill>
                  <a:srgbClr val="5C6E76"/>
                </a:solidFill>
              </a:rPr>
              <a:t>строк после разбора</a:t>
            </a:r>
            <a:endParaRPr/>
          </a:p>
        </p:txBody>
      </p:sp>
      <p:sp>
        <p:nvSpPr>
          <p:cNvPr id="80" name="Google Shape;80;p3"/>
          <p:cNvSpPr/>
          <p:nvPr/>
        </p:nvSpPr>
        <p:spPr>
          <a:xfrm>
            <a:off x="647700" y="5619750"/>
            <a:ext cx="1076325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733425" y="5781675"/>
            <a:ext cx="10477500" cy="590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9"/>
        </a:solidFill>
      </p:bgPr>
    </p:bg>
    <p:spTree>
      <p:nvGrpSpPr>
        <p:cNvPr id="86" name="Shape 86"/>
        <p:cNvGrpSpPr/>
        <p:nvPr/>
      </p:nvGrpSpPr>
      <p:grpSpPr>
        <a:xfrm>
          <a:off x="0" y="0"/>
          <a:ext cx="0" cy="0"/>
          <a:chOff x="0" y="0"/>
          <a:chExt cx="0" cy="0"/>
        </a:xfrm>
      </p:grpSpPr>
      <p:sp>
        <p:nvSpPr>
          <p:cNvPr id="87" name="Google Shape;87;p4"/>
          <p:cNvSpPr/>
          <p:nvPr/>
        </p:nvSpPr>
        <p:spPr>
          <a:xfrm>
            <a:off x="609600" y="419100"/>
            <a:ext cx="10572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775">
                <a:solidFill>
                  <a:srgbClr val="142735"/>
                </a:solidFill>
              </a:rPr>
              <a:t>Почему записи расходились</a:t>
            </a:r>
            <a:endParaRPr/>
          </a:p>
        </p:txBody>
      </p:sp>
      <p:sp>
        <p:nvSpPr>
          <p:cNvPr id="88" name="Google Shape;88;p4"/>
          <p:cNvSpPr/>
          <p:nvPr/>
        </p:nvSpPr>
        <p:spPr>
          <a:xfrm>
            <a:off x="609600" y="1228725"/>
            <a:ext cx="1097280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5C6E76"/>
                </a:solidFill>
              </a:rPr>
              <a:t>04</a:t>
            </a:r>
            <a:endParaRPr/>
          </a:p>
        </p:txBody>
      </p:sp>
      <p:sp>
        <p:nvSpPr>
          <p:cNvPr id="90" name="Google Shape;90;p4"/>
          <p:cNvSpPr/>
          <p:nvPr/>
        </p:nvSpPr>
        <p:spPr>
          <a:xfrm>
            <a:off x="714375" y="1762125"/>
            <a:ext cx="5238750" cy="87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525">
                <a:solidFill>
                  <a:srgbClr val="142735"/>
                </a:solidFill>
              </a:rPr>
              <a:t>IAROSLAV</a:t>
            </a:r>
            <a:endParaRPr b="1" sz="3525">
              <a:solidFill>
                <a:srgbClr val="142735"/>
              </a:solidFill>
            </a:endParaRPr>
          </a:p>
          <a:p>
            <a:pPr indent="0" lvl="0" marL="0" marR="0" rtl="0" algn="l">
              <a:spcBef>
                <a:spcPts val="0"/>
              </a:spcBef>
              <a:spcAft>
                <a:spcPts val="0"/>
              </a:spcAft>
              <a:buNone/>
            </a:pPr>
            <a:r>
              <a:rPr b="1" lang="en-US" sz="3525">
                <a:solidFill>
                  <a:srgbClr val="142735"/>
                </a:solidFill>
              </a:rPr>
              <a:t>ARSENIY</a:t>
            </a:r>
            <a:endParaRPr b="1" sz="3525">
              <a:solidFill>
                <a:srgbClr val="142735"/>
              </a:solidFill>
            </a:endParaRPr>
          </a:p>
        </p:txBody>
      </p:sp>
      <p:sp>
        <p:nvSpPr>
          <p:cNvPr id="91" name="Google Shape;91;p4"/>
          <p:cNvSpPr/>
          <p:nvPr/>
        </p:nvSpPr>
        <p:spPr>
          <a:xfrm>
            <a:off x="6381750" y="1762125"/>
            <a:ext cx="4667400" cy="87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525">
                <a:solidFill>
                  <a:srgbClr val="D56F4B"/>
                </a:solidFill>
              </a:rPr>
              <a:t>YAROSLAV</a:t>
            </a:r>
            <a:endParaRPr b="1" sz="3525">
              <a:solidFill>
                <a:srgbClr val="D56F4B"/>
              </a:solidFill>
            </a:endParaRPr>
          </a:p>
          <a:p>
            <a:pPr indent="0" lvl="0" marL="0" marR="0" rtl="0" algn="l">
              <a:spcBef>
                <a:spcPts val="0"/>
              </a:spcBef>
              <a:spcAft>
                <a:spcPts val="0"/>
              </a:spcAft>
              <a:buNone/>
            </a:pPr>
            <a:r>
              <a:rPr b="1" lang="en-US" sz="3525">
                <a:solidFill>
                  <a:srgbClr val="D56F4B"/>
                </a:solidFill>
              </a:rPr>
              <a:t>ARSENIJ</a:t>
            </a:r>
            <a:endParaRPr b="1" sz="3525">
              <a:solidFill>
                <a:srgbClr val="D56F4B"/>
              </a:solidFill>
            </a:endParaRPr>
          </a:p>
        </p:txBody>
      </p:sp>
      <p:sp>
        <p:nvSpPr>
          <p:cNvPr id="92" name="Google Shape;92;p4"/>
          <p:cNvSpPr/>
          <p:nvPr/>
        </p:nvSpPr>
        <p:spPr>
          <a:xfrm>
            <a:off x="714375" y="3009900"/>
            <a:ext cx="5238750" cy="781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625">
                <a:solidFill>
                  <a:srgbClr val="142735"/>
                </a:solidFill>
              </a:rPr>
              <a:t>1 вариант</a:t>
            </a:r>
            <a:endParaRPr/>
          </a:p>
        </p:txBody>
      </p:sp>
      <p:sp>
        <p:nvSpPr>
          <p:cNvPr id="93" name="Google Shape;93;p4"/>
          <p:cNvSpPr/>
          <p:nvPr/>
        </p:nvSpPr>
        <p:spPr>
          <a:xfrm>
            <a:off x="6381750" y="3009900"/>
            <a:ext cx="4667250" cy="781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625">
                <a:solidFill>
                  <a:srgbClr val="D56F4B"/>
                </a:solidFill>
              </a:rPr>
              <a:t>2 вариант</a:t>
            </a:r>
            <a:endParaRPr/>
          </a:p>
        </p:txBody>
      </p:sp>
      <p:sp>
        <p:nvSpPr>
          <p:cNvPr id="94" name="Google Shape;94;p4"/>
          <p:cNvSpPr/>
          <p:nvPr/>
        </p:nvSpPr>
        <p:spPr>
          <a:xfrm>
            <a:off x="647700" y="4191000"/>
            <a:ext cx="1076325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714375" y="4648200"/>
            <a:ext cx="10191750" cy="1066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250">
                <a:solidFill>
                  <a:srgbClr val="5C6E76"/>
                </a:solidFill>
              </a:rPr>
              <a:t>Разные даты, пустые поля и инициалы</a:t>
            </a:r>
            <a:endParaRPr/>
          </a:p>
          <a:p>
            <a:pPr indent="0" lvl="0" marL="0" marR="0" rtl="0" algn="l">
              <a:spcBef>
                <a:spcPts val="0"/>
              </a:spcBef>
              <a:spcAft>
                <a:spcPts val="0"/>
              </a:spcAft>
              <a:buNone/>
            </a:pPr>
            <a:r>
              <a:t/>
            </a:r>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9"/>
        </a:solidFill>
      </p:bgPr>
    </p:bg>
    <p:spTree>
      <p:nvGrpSpPr>
        <p:cNvPr id="100" name="Shape 100"/>
        <p:cNvGrpSpPr/>
        <p:nvPr/>
      </p:nvGrpSpPr>
      <p:grpSpPr>
        <a:xfrm>
          <a:off x="0" y="0"/>
          <a:ext cx="0" cy="0"/>
          <a:chOff x="0" y="0"/>
          <a:chExt cx="0" cy="0"/>
        </a:xfrm>
      </p:grpSpPr>
      <p:sp>
        <p:nvSpPr>
          <p:cNvPr id="101" name="Google Shape;101;p5"/>
          <p:cNvSpPr/>
          <p:nvPr/>
        </p:nvSpPr>
        <p:spPr>
          <a:xfrm>
            <a:off x="609600" y="419100"/>
            <a:ext cx="10572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775">
                <a:solidFill>
                  <a:srgbClr val="142735"/>
                </a:solidFill>
              </a:rPr>
              <a:t>От разнородных строк к общей схеме</a:t>
            </a:r>
            <a:endParaRPr/>
          </a:p>
        </p:txBody>
      </p:sp>
      <p:sp>
        <p:nvSpPr>
          <p:cNvPr id="102" name="Google Shape;102;p5"/>
          <p:cNvSpPr/>
          <p:nvPr/>
        </p:nvSpPr>
        <p:spPr>
          <a:xfrm>
            <a:off x="609600" y="1228725"/>
            <a:ext cx="1097280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5C6E76"/>
                </a:solidFill>
              </a:rPr>
              <a:t>05</a:t>
            </a:r>
            <a:endParaRPr/>
          </a:p>
        </p:txBody>
      </p:sp>
      <p:sp>
        <p:nvSpPr>
          <p:cNvPr id="104" name="Google Shape;104;p5"/>
          <p:cNvSpPr/>
          <p:nvPr/>
        </p:nvSpPr>
        <p:spPr>
          <a:xfrm>
            <a:off x="723900" y="1752600"/>
            <a:ext cx="5524500" cy="1066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5700">
                <a:solidFill>
                  <a:srgbClr val="142735"/>
                </a:solidFill>
              </a:rPr>
              <a:t>≈55</a:t>
            </a:r>
            <a:endParaRPr/>
          </a:p>
        </p:txBody>
      </p:sp>
      <p:sp>
        <p:nvSpPr>
          <p:cNvPr id="105" name="Google Shape;105;p5"/>
          <p:cNvSpPr/>
          <p:nvPr/>
        </p:nvSpPr>
        <p:spPr>
          <a:xfrm>
            <a:off x="723900" y="2819400"/>
            <a:ext cx="5524500" cy="4762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725">
                <a:solidFill>
                  <a:srgbClr val="5C6E76"/>
                </a:solidFill>
              </a:rPr>
              <a:t>полей в общей записи</a:t>
            </a:r>
            <a:endParaRPr/>
          </a:p>
        </p:txBody>
      </p:sp>
      <p:sp>
        <p:nvSpPr>
          <p:cNvPr id="106" name="Google Shape;106;p5"/>
          <p:cNvSpPr/>
          <p:nvPr/>
        </p:nvSpPr>
        <p:spPr>
          <a:xfrm>
            <a:off x="6181725" y="1971675"/>
            <a:ext cx="4867275" cy="666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025">
                <a:solidFill>
                  <a:srgbClr val="142735"/>
                </a:solidFill>
              </a:rPr>
              <a:t>отдельный разбор каждого файла</a:t>
            </a:r>
            <a:endParaRPr/>
          </a:p>
        </p:txBody>
      </p:sp>
      <p:sp>
        <p:nvSpPr>
          <p:cNvPr id="107" name="Google Shape;107;p5"/>
          <p:cNvSpPr/>
          <p:nvPr/>
        </p:nvSpPr>
        <p:spPr>
          <a:xfrm>
            <a:off x="6181725" y="2838450"/>
            <a:ext cx="4953000" cy="1333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75">
                <a:solidFill>
                  <a:srgbClr val="5C6E76"/>
                </a:solidFill>
              </a:rPr>
              <a:t>Заполняли только доступные поля. Даты и варианты имён приводили к сопоставимому виду.</a:t>
            </a:r>
            <a:endParaRPr/>
          </a:p>
        </p:txBody>
      </p:sp>
      <p:sp>
        <p:nvSpPr>
          <p:cNvPr id="108" name="Google Shape;108;p5"/>
          <p:cNvSpPr/>
          <p:nvPr/>
        </p:nvSpPr>
        <p:spPr>
          <a:xfrm>
            <a:off x="647700" y="4686300"/>
            <a:ext cx="1076325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723900" y="5133975"/>
            <a:ext cx="9525000" cy="1000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50">
                <a:solidFill>
                  <a:srgbClr val="D56F4B"/>
                </a:solidFill>
              </a:rPr>
              <a:t>4 358 805 строк после разбора шести источников</a:t>
            </a:r>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9"/>
        </a:solidFill>
      </p:bgPr>
    </p:bg>
    <p:spTree>
      <p:nvGrpSpPr>
        <p:cNvPr id="114" name="Shape 114"/>
        <p:cNvGrpSpPr/>
        <p:nvPr/>
      </p:nvGrpSpPr>
      <p:grpSpPr>
        <a:xfrm>
          <a:off x="0" y="0"/>
          <a:ext cx="0" cy="0"/>
          <a:chOff x="0" y="0"/>
          <a:chExt cx="0" cy="0"/>
        </a:xfrm>
      </p:grpSpPr>
      <p:sp>
        <p:nvSpPr>
          <p:cNvPr id="115" name="Google Shape;115;p6"/>
          <p:cNvSpPr/>
          <p:nvPr/>
        </p:nvSpPr>
        <p:spPr>
          <a:xfrm>
            <a:off x="609600" y="419100"/>
            <a:ext cx="10572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775">
                <a:solidFill>
                  <a:srgbClr val="142735"/>
                </a:solidFill>
              </a:rPr>
              <a:t>Четыре сущности</a:t>
            </a:r>
            <a:endParaRPr/>
          </a:p>
        </p:txBody>
      </p:sp>
      <p:sp>
        <p:nvSpPr>
          <p:cNvPr id="116" name="Google Shape;116;p6"/>
          <p:cNvSpPr/>
          <p:nvPr/>
        </p:nvSpPr>
        <p:spPr>
          <a:xfrm>
            <a:off x="609600" y="1228725"/>
            <a:ext cx="1097280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5C6E76"/>
                </a:solidFill>
              </a:rPr>
              <a:t>06</a:t>
            </a:r>
            <a:endParaRPr/>
          </a:p>
        </p:txBody>
      </p:sp>
      <p:sp>
        <p:nvSpPr>
          <p:cNvPr id="118" name="Google Shape;118;p6"/>
          <p:cNvSpPr/>
          <p:nvPr/>
        </p:nvSpPr>
        <p:spPr>
          <a:xfrm>
            <a:off x="752475" y="1657350"/>
            <a:ext cx="3810000" cy="5619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325">
                <a:solidFill>
                  <a:srgbClr val="142735"/>
                </a:solidFill>
              </a:rPr>
              <a:t>Пассажир</a:t>
            </a:r>
            <a:endParaRPr/>
          </a:p>
        </p:txBody>
      </p:sp>
      <p:sp>
        <p:nvSpPr>
          <p:cNvPr id="119" name="Google Shape;119;p6"/>
          <p:cNvSpPr/>
          <p:nvPr/>
        </p:nvSpPr>
        <p:spPr>
          <a:xfrm>
            <a:off x="4953000" y="1657350"/>
            <a:ext cx="5905500" cy="5619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00">
                <a:solidFill>
                  <a:srgbClr val="5C6E76"/>
                </a:solidFill>
              </a:rPr>
              <a:t>ФИО, документ, дата рождения</a:t>
            </a:r>
            <a:endParaRPr/>
          </a:p>
        </p:txBody>
      </p:sp>
      <p:sp>
        <p:nvSpPr>
          <p:cNvPr id="120" name="Google Shape;120;p6"/>
          <p:cNvSpPr/>
          <p:nvPr/>
        </p:nvSpPr>
        <p:spPr>
          <a:xfrm>
            <a:off x="647700" y="2438400"/>
            <a:ext cx="1076325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752475" y="2705100"/>
            <a:ext cx="3810000" cy="5619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325">
                <a:solidFill>
                  <a:srgbClr val="142735"/>
                </a:solidFill>
              </a:rPr>
              <a:t>Рейс</a:t>
            </a:r>
            <a:endParaRPr/>
          </a:p>
        </p:txBody>
      </p:sp>
      <p:sp>
        <p:nvSpPr>
          <p:cNvPr id="122" name="Google Shape;122;p6"/>
          <p:cNvSpPr/>
          <p:nvPr/>
        </p:nvSpPr>
        <p:spPr>
          <a:xfrm>
            <a:off x="4953000" y="2705100"/>
            <a:ext cx="5905500" cy="5619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00">
                <a:solidFill>
                  <a:srgbClr val="5C6E76"/>
                </a:solidFill>
              </a:rPr>
              <a:t>Дата </a:t>
            </a:r>
            <a:r>
              <a:rPr lang="en-US" sz="1800">
                <a:solidFill>
                  <a:srgbClr val="5C6E76"/>
                </a:solidFill>
              </a:rPr>
              <a:t>рейса</a:t>
            </a:r>
            <a:r>
              <a:rPr b="0" lang="en-US" sz="1800">
                <a:solidFill>
                  <a:srgbClr val="5C6E76"/>
                </a:solidFill>
              </a:rPr>
              <a:t>, номер рейса, маршрут</a:t>
            </a:r>
            <a:endParaRPr/>
          </a:p>
        </p:txBody>
      </p:sp>
      <p:sp>
        <p:nvSpPr>
          <p:cNvPr id="123" name="Google Shape;123;p6"/>
          <p:cNvSpPr/>
          <p:nvPr/>
        </p:nvSpPr>
        <p:spPr>
          <a:xfrm>
            <a:off x="647700" y="3486150"/>
            <a:ext cx="1076325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752475" y="3752850"/>
            <a:ext cx="3810000" cy="5619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325">
                <a:solidFill>
                  <a:srgbClr val="142735"/>
                </a:solidFill>
              </a:rPr>
              <a:t>Билет</a:t>
            </a:r>
            <a:endParaRPr/>
          </a:p>
        </p:txBody>
      </p:sp>
      <p:sp>
        <p:nvSpPr>
          <p:cNvPr id="125" name="Google Shape;125;p6"/>
          <p:cNvSpPr/>
          <p:nvPr/>
        </p:nvSpPr>
        <p:spPr>
          <a:xfrm>
            <a:off x="4953000" y="3752850"/>
            <a:ext cx="5905500" cy="5619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rgbClr val="5C6E76"/>
                </a:solidFill>
              </a:rPr>
              <a:t>Номер билета, д</a:t>
            </a:r>
            <a:r>
              <a:rPr b="0" lang="en-US" sz="1800">
                <a:solidFill>
                  <a:srgbClr val="5C6E76"/>
                </a:solidFill>
              </a:rPr>
              <a:t>окумент, дата рейса, номер рейса</a:t>
            </a:r>
            <a:endParaRPr/>
          </a:p>
        </p:txBody>
      </p:sp>
      <p:sp>
        <p:nvSpPr>
          <p:cNvPr id="126" name="Google Shape;126;p6"/>
          <p:cNvSpPr/>
          <p:nvPr/>
        </p:nvSpPr>
        <p:spPr>
          <a:xfrm>
            <a:off x="647700" y="4533900"/>
            <a:ext cx="1076325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752475" y="4800600"/>
            <a:ext cx="3810000" cy="5619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325">
                <a:solidFill>
                  <a:srgbClr val="142735"/>
                </a:solidFill>
              </a:rPr>
              <a:t>Карта л</a:t>
            </a:r>
            <a:r>
              <a:rPr b="1" lang="en-US" sz="2325">
                <a:solidFill>
                  <a:srgbClr val="142735"/>
                </a:solidFill>
              </a:rPr>
              <a:t>ояльности</a:t>
            </a:r>
            <a:endParaRPr/>
          </a:p>
        </p:txBody>
      </p:sp>
      <p:sp>
        <p:nvSpPr>
          <p:cNvPr id="128" name="Google Shape;128;p6"/>
          <p:cNvSpPr/>
          <p:nvPr/>
        </p:nvSpPr>
        <p:spPr>
          <a:xfrm>
            <a:off x="4953000" y="4800600"/>
            <a:ext cx="5905500" cy="5619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00">
                <a:solidFill>
                  <a:srgbClr val="5C6E76"/>
                </a:solidFill>
              </a:rPr>
              <a:t>Документ, карта, программа</a:t>
            </a:r>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9"/>
        </a:solidFill>
      </p:bgPr>
    </p:bg>
    <p:spTree>
      <p:nvGrpSpPr>
        <p:cNvPr id="133" name="Shape 133"/>
        <p:cNvGrpSpPr/>
        <p:nvPr/>
      </p:nvGrpSpPr>
      <p:grpSpPr>
        <a:xfrm>
          <a:off x="0" y="0"/>
          <a:ext cx="0" cy="0"/>
          <a:chOff x="0" y="0"/>
          <a:chExt cx="0" cy="0"/>
        </a:xfrm>
      </p:grpSpPr>
      <p:sp>
        <p:nvSpPr>
          <p:cNvPr id="134" name="Google Shape;134;p11"/>
          <p:cNvSpPr/>
          <p:nvPr/>
        </p:nvSpPr>
        <p:spPr>
          <a:xfrm>
            <a:off x="609600" y="419100"/>
            <a:ext cx="10572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775">
                <a:solidFill>
                  <a:srgbClr val="142735"/>
                </a:solidFill>
              </a:rPr>
              <a:t>Восемь проверок</a:t>
            </a:r>
            <a:endParaRPr/>
          </a:p>
        </p:txBody>
      </p:sp>
      <p:sp>
        <p:nvSpPr>
          <p:cNvPr id="135" name="Google Shape;135;p11"/>
          <p:cNvSpPr/>
          <p:nvPr/>
        </p:nvSpPr>
        <p:spPr>
          <a:xfrm>
            <a:off x="609600" y="1228725"/>
            <a:ext cx="1097280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1"/>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5C6E76"/>
                </a:solidFill>
              </a:rPr>
              <a:t>11</a:t>
            </a:r>
            <a:endParaRPr/>
          </a:p>
        </p:txBody>
      </p:sp>
      <p:sp>
        <p:nvSpPr>
          <p:cNvPr id="137" name="Google Shape;137;p11"/>
          <p:cNvSpPr/>
          <p:nvPr/>
        </p:nvSpPr>
        <p:spPr>
          <a:xfrm>
            <a:off x="733425" y="1600200"/>
            <a:ext cx="10287000" cy="323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50">
                <a:solidFill>
                  <a:srgbClr val="D56F4B"/>
                </a:solidFill>
              </a:rPr>
              <a:t>ИДЕНТИФИКАТОРЫ</a:t>
            </a:r>
            <a:endParaRPr/>
          </a:p>
        </p:txBody>
      </p:sp>
      <p:sp>
        <p:nvSpPr>
          <p:cNvPr id="138" name="Google Shape;138;p11"/>
          <p:cNvSpPr/>
          <p:nvPr/>
        </p:nvSpPr>
        <p:spPr>
          <a:xfrm>
            <a:off x="733425" y="2009775"/>
            <a:ext cx="10287000" cy="933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75">
                <a:solidFill>
                  <a:srgbClr val="142735"/>
                </a:solidFill>
              </a:rPr>
              <a:t>1  Разные имена по документу</a:t>
            </a:r>
            <a:endParaRPr/>
          </a:p>
          <a:p>
            <a:pPr indent="0" lvl="0" marL="0" marR="0" rtl="0" algn="l">
              <a:spcBef>
                <a:spcPts val="0"/>
              </a:spcBef>
              <a:spcAft>
                <a:spcPts val="0"/>
              </a:spcAft>
              <a:buNone/>
            </a:pPr>
            <a:r>
              <a:rPr b="0" lang="en-US" sz="1875">
                <a:solidFill>
                  <a:srgbClr val="142735"/>
                </a:solidFill>
              </a:rPr>
              <a:t>2  Разные даты рождения</a:t>
            </a:r>
            <a:endParaRPr/>
          </a:p>
          <a:p>
            <a:pPr indent="0" lvl="0" marL="0" marR="0" rtl="0" algn="l">
              <a:spcBef>
                <a:spcPts val="0"/>
              </a:spcBef>
              <a:spcAft>
                <a:spcPts val="0"/>
              </a:spcAft>
              <a:buNone/>
            </a:pPr>
            <a:r>
              <a:rPr b="0" lang="en-US" sz="1875">
                <a:solidFill>
                  <a:srgbClr val="142735"/>
                </a:solidFill>
              </a:rPr>
              <a:t>3  Одна карта лояльности, разные документы</a:t>
            </a:r>
            <a:endParaRPr/>
          </a:p>
        </p:txBody>
      </p:sp>
      <p:sp>
        <p:nvSpPr>
          <p:cNvPr id="139" name="Google Shape;139;p11"/>
          <p:cNvSpPr/>
          <p:nvPr/>
        </p:nvSpPr>
        <p:spPr>
          <a:xfrm>
            <a:off x="647700" y="3143250"/>
            <a:ext cx="1076325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1"/>
          <p:cNvSpPr/>
          <p:nvPr/>
        </p:nvSpPr>
        <p:spPr>
          <a:xfrm>
            <a:off x="733425" y="3371850"/>
            <a:ext cx="10287000" cy="323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50">
                <a:solidFill>
                  <a:srgbClr val="D56F4B"/>
                </a:solidFill>
              </a:rPr>
              <a:t>ПЕРЕЛЁТЫ И ВРЕМЯ</a:t>
            </a:r>
            <a:endParaRPr/>
          </a:p>
        </p:txBody>
      </p:sp>
      <p:sp>
        <p:nvSpPr>
          <p:cNvPr id="141" name="Google Shape;141;p11"/>
          <p:cNvSpPr/>
          <p:nvPr/>
        </p:nvSpPr>
        <p:spPr>
          <a:xfrm>
            <a:off x="733425" y="3790950"/>
            <a:ext cx="10382250" cy="19145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75">
                <a:solidFill>
                  <a:srgbClr val="142735"/>
                </a:solidFill>
              </a:rPr>
              <a:t>4  Три и более общих рейс</a:t>
            </a:r>
            <a:r>
              <a:rPr lang="en-US" sz="1875">
                <a:solidFill>
                  <a:srgbClr val="142735"/>
                </a:solidFill>
              </a:rPr>
              <a:t>ов</a:t>
            </a:r>
            <a:r>
              <a:rPr b="0" lang="en-US" sz="1875">
                <a:solidFill>
                  <a:srgbClr val="142735"/>
                </a:solidFill>
              </a:rPr>
              <a:t> с пассажиром</a:t>
            </a:r>
            <a:endParaRPr/>
          </a:p>
          <a:p>
            <a:pPr indent="0" lvl="0" marL="0" marR="0" rtl="0" algn="l">
              <a:spcBef>
                <a:spcPts val="0"/>
              </a:spcBef>
              <a:spcAft>
                <a:spcPts val="0"/>
              </a:spcAft>
              <a:buNone/>
            </a:pPr>
            <a:r>
              <a:rPr b="0" lang="en-US" sz="1875">
                <a:solidFill>
                  <a:srgbClr val="142735"/>
                </a:solidFill>
              </a:rPr>
              <a:t>5  </a:t>
            </a:r>
            <a:r>
              <a:rPr lang="en-US" sz="1875">
                <a:solidFill>
                  <a:srgbClr val="142735"/>
                </a:solidFill>
              </a:rPr>
              <a:t>Более десяти</a:t>
            </a:r>
            <a:r>
              <a:rPr b="0" lang="en-US" sz="1875">
                <a:solidFill>
                  <a:srgbClr val="142735"/>
                </a:solidFill>
              </a:rPr>
              <a:t> рейсов за месяц</a:t>
            </a:r>
            <a:endParaRPr/>
          </a:p>
          <a:p>
            <a:pPr indent="0" lvl="0" marL="0" marR="0" rtl="0" algn="l">
              <a:spcBef>
                <a:spcPts val="0"/>
              </a:spcBef>
              <a:spcAft>
                <a:spcPts val="0"/>
              </a:spcAft>
              <a:buNone/>
            </a:pPr>
            <a:r>
              <a:rPr b="0" lang="en-US" sz="1875">
                <a:solidFill>
                  <a:srgbClr val="142735"/>
                </a:solidFill>
              </a:rPr>
              <a:t>6  Пересекающиеся рейсы</a:t>
            </a:r>
            <a:endParaRPr/>
          </a:p>
          <a:p>
            <a:pPr indent="0" lvl="0" marL="0" marR="0" rtl="0" algn="l">
              <a:spcBef>
                <a:spcPts val="0"/>
              </a:spcBef>
              <a:spcAft>
                <a:spcPts val="0"/>
              </a:spcAft>
              <a:buNone/>
            </a:pPr>
            <a:r>
              <a:rPr b="0" lang="en-US" sz="1875">
                <a:solidFill>
                  <a:srgbClr val="142735"/>
                </a:solidFill>
              </a:rPr>
              <a:t>7  Другая страна в течение часа</a:t>
            </a:r>
            <a:endParaRPr/>
          </a:p>
          <a:p>
            <a:pPr indent="0" lvl="0" marL="0" marR="0" rtl="0" algn="l">
              <a:spcBef>
                <a:spcPts val="0"/>
              </a:spcBef>
              <a:spcAft>
                <a:spcPts val="0"/>
              </a:spcAft>
              <a:buNone/>
            </a:pPr>
            <a:r>
              <a:rPr b="0" lang="en-US" sz="1875">
                <a:solidFill>
                  <a:srgbClr val="142735"/>
                </a:solidFill>
              </a:rPr>
              <a:t>8  Возраст 60+ на дату последнего билета</a:t>
            </a:r>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9"/>
        </a:solidFill>
      </p:bgPr>
    </p:bg>
    <p:spTree>
      <p:nvGrpSpPr>
        <p:cNvPr id="146" name="Shape 146"/>
        <p:cNvGrpSpPr/>
        <p:nvPr/>
      </p:nvGrpSpPr>
      <p:grpSpPr>
        <a:xfrm>
          <a:off x="0" y="0"/>
          <a:ext cx="0" cy="0"/>
          <a:chOff x="0" y="0"/>
          <a:chExt cx="0" cy="0"/>
        </a:xfrm>
      </p:grpSpPr>
      <p:sp>
        <p:nvSpPr>
          <p:cNvPr id="147" name="Google Shape;147;p13"/>
          <p:cNvSpPr/>
          <p:nvPr/>
        </p:nvSpPr>
        <p:spPr>
          <a:xfrm>
            <a:off x="609600" y="419100"/>
            <a:ext cx="10572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775">
                <a:solidFill>
                  <a:srgbClr val="142735"/>
                </a:solidFill>
              </a:rPr>
              <a:t>Срабатывания по критериям</a:t>
            </a:r>
            <a:endParaRPr/>
          </a:p>
        </p:txBody>
      </p:sp>
      <p:sp>
        <p:nvSpPr>
          <p:cNvPr id="148" name="Google Shape;148;p13"/>
          <p:cNvSpPr/>
          <p:nvPr/>
        </p:nvSpPr>
        <p:spPr>
          <a:xfrm>
            <a:off x="609600" y="1228725"/>
            <a:ext cx="1097280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3"/>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5C6E76"/>
                </a:solidFill>
              </a:rPr>
              <a:t>13</a:t>
            </a:r>
            <a:endParaRPr/>
          </a:p>
        </p:txBody>
      </p:sp>
      <p:sp>
        <p:nvSpPr>
          <p:cNvPr id="150" name="Google Shape;150;p13"/>
          <p:cNvSpPr/>
          <p:nvPr/>
        </p:nvSpPr>
        <p:spPr>
          <a:xfrm>
            <a:off x="704850" y="1628775"/>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75">
                <a:solidFill>
                  <a:srgbClr val="142735"/>
                </a:solidFill>
              </a:rPr>
              <a:t>Пересечение рейсов</a:t>
            </a:r>
            <a:endParaRPr/>
          </a:p>
        </p:txBody>
      </p:sp>
      <p:sp>
        <p:nvSpPr>
          <p:cNvPr id="151" name="Google Shape;151;p13"/>
          <p:cNvSpPr/>
          <p:nvPr/>
        </p:nvSpPr>
        <p:spPr>
          <a:xfrm>
            <a:off x="5305425" y="1695450"/>
            <a:ext cx="4790123" cy="304800"/>
          </a:xfrm>
          <a:prstGeom prst="rect">
            <a:avLst/>
          </a:prstGeom>
          <a:solidFill>
            <a:srgbClr val="347E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3"/>
          <p:cNvSpPr/>
          <p:nvPr/>
        </p:nvSpPr>
        <p:spPr>
          <a:xfrm>
            <a:off x="10677525" y="1628775"/>
            <a:ext cx="762000" cy="4476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142735"/>
                </a:solidFill>
              </a:rPr>
              <a:t>107</a:t>
            </a:r>
            <a:endParaRPr/>
          </a:p>
        </p:txBody>
      </p:sp>
      <p:sp>
        <p:nvSpPr>
          <p:cNvPr id="153" name="Google Shape;153;p13"/>
          <p:cNvSpPr/>
          <p:nvPr/>
        </p:nvSpPr>
        <p:spPr>
          <a:xfrm>
            <a:off x="704850" y="2457450"/>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75">
                <a:solidFill>
                  <a:srgbClr val="142735"/>
                </a:solidFill>
              </a:rPr>
              <a:t>10+ рейсов за месяц</a:t>
            </a:r>
            <a:endParaRPr/>
          </a:p>
        </p:txBody>
      </p:sp>
      <p:sp>
        <p:nvSpPr>
          <p:cNvPr id="154" name="Google Shape;154;p13"/>
          <p:cNvSpPr/>
          <p:nvPr/>
        </p:nvSpPr>
        <p:spPr>
          <a:xfrm>
            <a:off x="5305425" y="2524125"/>
            <a:ext cx="2999423" cy="304800"/>
          </a:xfrm>
          <a:prstGeom prst="rect">
            <a:avLst/>
          </a:prstGeom>
          <a:solidFill>
            <a:srgbClr val="347E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3"/>
          <p:cNvSpPr/>
          <p:nvPr/>
        </p:nvSpPr>
        <p:spPr>
          <a:xfrm>
            <a:off x="10677525" y="2457450"/>
            <a:ext cx="762000" cy="4476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142735"/>
                </a:solidFill>
              </a:rPr>
              <a:t>67</a:t>
            </a:r>
            <a:endParaRPr/>
          </a:p>
        </p:txBody>
      </p:sp>
      <p:sp>
        <p:nvSpPr>
          <p:cNvPr id="156" name="Google Shape;156;p13"/>
          <p:cNvSpPr/>
          <p:nvPr/>
        </p:nvSpPr>
        <p:spPr>
          <a:xfrm>
            <a:off x="704850" y="3286125"/>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75">
                <a:solidFill>
                  <a:srgbClr val="142735"/>
                </a:solidFill>
              </a:rPr>
              <a:t>3+ совместных рейса</a:t>
            </a:r>
            <a:endParaRPr/>
          </a:p>
        </p:txBody>
      </p:sp>
      <p:sp>
        <p:nvSpPr>
          <p:cNvPr id="157" name="Google Shape;157;p13"/>
          <p:cNvSpPr/>
          <p:nvPr/>
        </p:nvSpPr>
        <p:spPr>
          <a:xfrm>
            <a:off x="5305425" y="3352800"/>
            <a:ext cx="2193608" cy="304800"/>
          </a:xfrm>
          <a:prstGeom prst="rect">
            <a:avLst/>
          </a:prstGeom>
          <a:solidFill>
            <a:srgbClr val="347E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3"/>
          <p:cNvSpPr/>
          <p:nvPr/>
        </p:nvSpPr>
        <p:spPr>
          <a:xfrm>
            <a:off x="10677525" y="3286125"/>
            <a:ext cx="762000" cy="4476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142735"/>
                </a:solidFill>
              </a:rPr>
              <a:t>49</a:t>
            </a:r>
            <a:endParaRPr/>
          </a:p>
        </p:txBody>
      </p:sp>
      <p:sp>
        <p:nvSpPr>
          <p:cNvPr id="159" name="Google Shape;159;p13"/>
          <p:cNvSpPr/>
          <p:nvPr/>
        </p:nvSpPr>
        <p:spPr>
          <a:xfrm>
            <a:off x="704850" y="4114800"/>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75">
                <a:solidFill>
                  <a:srgbClr val="142735"/>
                </a:solidFill>
              </a:rPr>
              <a:t>Другая страна за час</a:t>
            </a:r>
            <a:endParaRPr/>
          </a:p>
        </p:txBody>
      </p:sp>
      <p:sp>
        <p:nvSpPr>
          <p:cNvPr id="160" name="Google Shape;160;p13"/>
          <p:cNvSpPr/>
          <p:nvPr/>
        </p:nvSpPr>
        <p:spPr>
          <a:xfrm>
            <a:off x="5305425" y="4181475"/>
            <a:ext cx="984885" cy="304800"/>
          </a:xfrm>
          <a:prstGeom prst="rect">
            <a:avLst/>
          </a:prstGeom>
          <a:solidFill>
            <a:srgbClr val="347E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3"/>
          <p:cNvSpPr/>
          <p:nvPr/>
        </p:nvSpPr>
        <p:spPr>
          <a:xfrm>
            <a:off x="10677525" y="4114800"/>
            <a:ext cx="762000" cy="4476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142735"/>
                </a:solidFill>
              </a:rPr>
              <a:t>22</a:t>
            </a:r>
            <a:endParaRPr/>
          </a:p>
        </p:txBody>
      </p:sp>
      <p:sp>
        <p:nvSpPr>
          <p:cNvPr id="162" name="Google Shape;162;p13"/>
          <p:cNvSpPr/>
          <p:nvPr/>
        </p:nvSpPr>
        <p:spPr>
          <a:xfrm>
            <a:off x="704850" y="4943475"/>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75">
                <a:solidFill>
                  <a:srgbClr val="142735"/>
                </a:solidFill>
              </a:rPr>
              <a:t>Имя и дата рождения</a:t>
            </a:r>
            <a:endParaRPr/>
          </a:p>
        </p:txBody>
      </p:sp>
      <p:sp>
        <p:nvSpPr>
          <p:cNvPr id="163" name="Google Shape;163;p13"/>
          <p:cNvSpPr/>
          <p:nvPr/>
        </p:nvSpPr>
        <p:spPr>
          <a:xfrm>
            <a:off x="5305425" y="5010150"/>
            <a:ext cx="44768" cy="304800"/>
          </a:xfrm>
          <a:prstGeom prst="rect">
            <a:avLst/>
          </a:prstGeom>
          <a:solidFill>
            <a:srgbClr val="D56F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3"/>
          <p:cNvSpPr/>
          <p:nvPr/>
        </p:nvSpPr>
        <p:spPr>
          <a:xfrm>
            <a:off x="10677525" y="4943475"/>
            <a:ext cx="762000" cy="4476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142735"/>
                </a:solidFill>
              </a:rPr>
              <a:t>1 / 1</a:t>
            </a:r>
            <a:endParaRPr/>
          </a:p>
        </p:txBody>
      </p:sp>
      <p:sp>
        <p:nvSpPr>
          <p:cNvPr id="165" name="Google Shape;165;p13"/>
          <p:cNvSpPr/>
          <p:nvPr/>
        </p:nvSpPr>
        <p:spPr>
          <a:xfrm>
            <a:off x="723900" y="5924550"/>
            <a:ext cx="10382250" cy="3905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00">
                <a:solidFill>
                  <a:srgbClr val="5C6E76"/>
                </a:solidFill>
              </a:rPr>
              <a:t>Возрастной эксперимент и правило карты совпадений не дали.</a:t>
            </a:r>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A25"/>
        </a:solidFill>
      </p:bgPr>
    </p:bg>
    <p:spTree>
      <p:nvGrpSpPr>
        <p:cNvPr id="170" name="Shape 170"/>
        <p:cNvGrpSpPr/>
        <p:nvPr/>
      </p:nvGrpSpPr>
      <p:grpSpPr>
        <a:xfrm>
          <a:off x="0" y="0"/>
          <a:ext cx="0" cy="0"/>
          <a:chOff x="0" y="0"/>
          <a:chExt cx="0" cy="0"/>
        </a:xfrm>
      </p:grpSpPr>
      <p:sp>
        <p:nvSpPr>
          <p:cNvPr id="171" name="Google Shape;171;p7"/>
          <p:cNvSpPr/>
          <p:nvPr/>
        </p:nvSpPr>
        <p:spPr>
          <a:xfrm>
            <a:off x="609600" y="419100"/>
            <a:ext cx="10572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775">
                <a:solidFill>
                  <a:srgbClr val="F8F7F2"/>
                </a:solidFill>
              </a:rPr>
              <a:t>Улика! Посадочные данные</a:t>
            </a:r>
            <a:endParaRPr/>
          </a:p>
        </p:txBody>
      </p:sp>
      <p:sp>
        <p:nvSpPr>
          <p:cNvPr id="172" name="Google Shape;172;p7"/>
          <p:cNvSpPr/>
          <p:nvPr/>
        </p:nvSpPr>
        <p:spPr>
          <a:xfrm>
            <a:off x="609600" y="1228725"/>
            <a:ext cx="10972800" cy="19050"/>
          </a:xfrm>
          <a:prstGeom prst="rect">
            <a:avLst/>
          </a:prstGeom>
          <a:solidFill>
            <a:srgbClr val="2F4C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89A0AB"/>
                </a:solidFill>
              </a:rPr>
              <a:t>07</a:t>
            </a:r>
            <a:endParaRPr/>
          </a:p>
        </p:txBody>
      </p:sp>
      <p:sp>
        <p:nvSpPr>
          <p:cNvPr id="174" name="Google Shape;174;p7"/>
          <p:cNvSpPr/>
          <p:nvPr/>
        </p:nvSpPr>
        <p:spPr>
          <a:xfrm>
            <a:off x="723900" y="1657350"/>
            <a:ext cx="10287000" cy="323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50">
                <a:solidFill>
                  <a:srgbClr val="F1A24A"/>
                </a:solidFill>
              </a:rPr>
              <a:t>BOARDINGDATA.CSV / </a:t>
            </a:r>
            <a:r>
              <a:rPr b="1" lang="en-US" sz="1350">
                <a:solidFill>
                  <a:srgbClr val="F1A24A"/>
                </a:solidFill>
              </a:rPr>
              <a:t>SIRENA-EXPORT.TAB</a:t>
            </a:r>
            <a:endParaRPr b="1" sz="1350">
              <a:solidFill>
                <a:srgbClr val="F1A24A"/>
              </a:solidFill>
            </a:endParaRPr>
          </a:p>
        </p:txBody>
      </p:sp>
      <p:sp>
        <p:nvSpPr>
          <p:cNvPr id="175" name="Google Shape;175;p7"/>
          <p:cNvSpPr/>
          <p:nvPr/>
        </p:nvSpPr>
        <p:spPr>
          <a:xfrm>
            <a:off x="723900" y="2200275"/>
            <a:ext cx="10191750" cy="781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825">
                <a:solidFill>
                  <a:srgbClr val="F8F7F2"/>
                </a:solidFill>
              </a:rPr>
              <a:t>GORDEI GLEBOV</a:t>
            </a:r>
            <a:endParaRPr/>
          </a:p>
        </p:txBody>
      </p:sp>
      <p:sp>
        <p:nvSpPr>
          <p:cNvPr id="176" name="Google Shape;176;p7"/>
          <p:cNvSpPr/>
          <p:nvPr/>
        </p:nvSpPr>
        <p:spPr>
          <a:xfrm>
            <a:off x="723900" y="3267075"/>
            <a:ext cx="10191750" cy="647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400">
                <a:solidFill>
                  <a:srgbClr val="BDCDD3"/>
                </a:solidFill>
              </a:rPr>
              <a:t>Документ  ·  ...3778</a:t>
            </a:r>
            <a:endParaRPr/>
          </a:p>
        </p:txBody>
      </p:sp>
      <p:sp>
        <p:nvSpPr>
          <p:cNvPr id="177" name="Google Shape;177;p7"/>
          <p:cNvSpPr/>
          <p:nvPr/>
        </p:nvSpPr>
        <p:spPr>
          <a:xfrm>
            <a:off x="723900" y="4181475"/>
            <a:ext cx="10191750" cy="647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400">
                <a:solidFill>
                  <a:srgbClr val="BDCDD3"/>
                </a:solidFill>
              </a:rPr>
              <a:t>SU1057  ·  16 января 2017</a:t>
            </a:r>
            <a:endParaRPr/>
          </a:p>
        </p:txBody>
      </p:sp>
      <p:sp>
        <p:nvSpPr>
          <p:cNvPr id="178" name="Google Shape;178;p7"/>
          <p:cNvSpPr/>
          <p:nvPr/>
        </p:nvSpPr>
        <p:spPr>
          <a:xfrm>
            <a:off x="723900" y="5095875"/>
            <a:ext cx="10191750" cy="647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F1A24A"/>
                </a:solidFill>
              </a:rPr>
              <a:t>Билет  ·  ...8171</a:t>
            </a:r>
            <a:endParaRPr/>
          </a:p>
        </p:txBody>
      </p:sp>
    </p:spTree>
  </p:cSld>
  <p:clrMapOvr>
    <a:masterClrMapping/>
  </p:clrMapOvr>
  <p:transition spd="med">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A25"/>
        </a:solidFill>
      </p:bgPr>
    </p:bg>
    <p:spTree>
      <p:nvGrpSpPr>
        <p:cNvPr id="183" name="Shape 183"/>
        <p:cNvGrpSpPr/>
        <p:nvPr/>
      </p:nvGrpSpPr>
      <p:grpSpPr>
        <a:xfrm>
          <a:off x="0" y="0"/>
          <a:ext cx="0" cy="0"/>
          <a:chOff x="0" y="0"/>
          <a:chExt cx="0" cy="0"/>
        </a:xfrm>
      </p:grpSpPr>
      <p:sp>
        <p:nvSpPr>
          <p:cNvPr id="184" name="Google Shape;184;p9"/>
          <p:cNvSpPr/>
          <p:nvPr/>
        </p:nvSpPr>
        <p:spPr>
          <a:xfrm>
            <a:off x="609600" y="419100"/>
            <a:ext cx="10572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775">
                <a:solidFill>
                  <a:srgbClr val="F8F7F2"/>
                </a:solidFill>
              </a:rPr>
              <a:t>Улика! Тот же документ</a:t>
            </a:r>
            <a:endParaRPr/>
          </a:p>
        </p:txBody>
      </p:sp>
      <p:sp>
        <p:nvSpPr>
          <p:cNvPr id="185" name="Google Shape;185;p9"/>
          <p:cNvSpPr/>
          <p:nvPr/>
        </p:nvSpPr>
        <p:spPr>
          <a:xfrm>
            <a:off x="609600" y="1228725"/>
            <a:ext cx="10972800" cy="19050"/>
          </a:xfrm>
          <a:prstGeom prst="rect">
            <a:avLst/>
          </a:prstGeom>
          <a:solidFill>
            <a:srgbClr val="2F4C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89A0AB"/>
                </a:solidFill>
              </a:rPr>
              <a:t>09</a:t>
            </a:r>
            <a:endParaRPr/>
          </a:p>
        </p:txBody>
      </p:sp>
      <p:sp>
        <p:nvSpPr>
          <p:cNvPr id="187" name="Google Shape;187;p9"/>
          <p:cNvSpPr/>
          <p:nvPr/>
        </p:nvSpPr>
        <p:spPr>
          <a:xfrm>
            <a:off x="723900" y="1638300"/>
            <a:ext cx="10287000" cy="323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50">
                <a:solidFill>
                  <a:srgbClr val="F1A24A"/>
                </a:solidFill>
              </a:rPr>
              <a:t>BOARDINGDATA.CSV + SIRENA-EXPORT.TAB</a:t>
            </a:r>
            <a:endParaRPr/>
          </a:p>
        </p:txBody>
      </p:sp>
      <p:sp>
        <p:nvSpPr>
          <p:cNvPr id="188" name="Google Shape;188;p9"/>
          <p:cNvSpPr/>
          <p:nvPr/>
        </p:nvSpPr>
        <p:spPr>
          <a:xfrm>
            <a:off x="723900" y="2143125"/>
            <a:ext cx="10382250" cy="8572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125">
                <a:solidFill>
                  <a:srgbClr val="F8F7F2"/>
                </a:solidFill>
              </a:rPr>
              <a:t>RAMIL BUROV</a:t>
            </a:r>
            <a:endParaRPr/>
          </a:p>
        </p:txBody>
      </p:sp>
      <p:sp>
        <p:nvSpPr>
          <p:cNvPr id="189" name="Google Shape;189;p9"/>
          <p:cNvSpPr/>
          <p:nvPr/>
        </p:nvSpPr>
        <p:spPr>
          <a:xfrm>
            <a:off x="723900" y="3171825"/>
            <a:ext cx="10191750" cy="6381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50">
                <a:solidFill>
                  <a:srgbClr val="F1A24A"/>
                </a:solidFill>
              </a:rPr>
              <a:t>Документ  ·  ...3778</a:t>
            </a:r>
            <a:endParaRPr/>
          </a:p>
        </p:txBody>
      </p:sp>
      <p:sp>
        <p:nvSpPr>
          <p:cNvPr id="190" name="Google Shape;190;p9"/>
          <p:cNvSpPr/>
          <p:nvPr/>
        </p:nvSpPr>
        <p:spPr>
          <a:xfrm>
            <a:off x="723900" y="4086225"/>
            <a:ext cx="10191750" cy="6381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250">
                <a:solidFill>
                  <a:srgbClr val="BDCDD3"/>
                </a:solidFill>
              </a:rPr>
              <a:t>SU1273  ·  3 января 2017</a:t>
            </a:r>
            <a:endParaRPr/>
          </a:p>
        </p:txBody>
      </p:sp>
      <p:sp>
        <p:nvSpPr>
          <p:cNvPr id="191" name="Google Shape;191;p9"/>
          <p:cNvSpPr/>
          <p:nvPr/>
        </p:nvSpPr>
        <p:spPr>
          <a:xfrm>
            <a:off x="723900" y="4981575"/>
            <a:ext cx="10191750" cy="6381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250">
                <a:solidFill>
                  <a:srgbClr val="BDCDD3"/>
                </a:solidFill>
              </a:rPr>
              <a:t>Билет  ·  ...6045</a:t>
            </a:r>
            <a:endParaRPr/>
          </a:p>
        </p:txBody>
      </p:sp>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A25"/>
        </a:solidFill>
      </p:bgPr>
    </p:bg>
    <p:spTree>
      <p:nvGrpSpPr>
        <p:cNvPr id="196" name="Shape 196"/>
        <p:cNvGrpSpPr/>
        <p:nvPr/>
      </p:nvGrpSpPr>
      <p:grpSpPr>
        <a:xfrm>
          <a:off x="0" y="0"/>
          <a:ext cx="0" cy="0"/>
          <a:chOff x="0" y="0"/>
          <a:chExt cx="0" cy="0"/>
        </a:xfrm>
      </p:grpSpPr>
      <p:sp>
        <p:nvSpPr>
          <p:cNvPr id="197" name="Google Shape;197;p10"/>
          <p:cNvSpPr/>
          <p:nvPr/>
        </p:nvSpPr>
        <p:spPr>
          <a:xfrm>
            <a:off x="609600" y="419100"/>
            <a:ext cx="10572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775">
                <a:solidFill>
                  <a:srgbClr val="F8F7F2"/>
                </a:solidFill>
              </a:rPr>
              <a:t>Один документ. Две личности в данных</a:t>
            </a:r>
            <a:endParaRPr/>
          </a:p>
        </p:txBody>
      </p:sp>
      <p:sp>
        <p:nvSpPr>
          <p:cNvPr id="198" name="Google Shape;198;p10"/>
          <p:cNvSpPr/>
          <p:nvPr/>
        </p:nvSpPr>
        <p:spPr>
          <a:xfrm>
            <a:off x="609600" y="1228725"/>
            <a:ext cx="10972800" cy="19050"/>
          </a:xfrm>
          <a:prstGeom prst="rect">
            <a:avLst/>
          </a:prstGeom>
          <a:solidFill>
            <a:srgbClr val="2F4C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89A0AB"/>
                </a:solidFill>
              </a:rPr>
              <a:t>10</a:t>
            </a:r>
            <a:endParaRPr/>
          </a:p>
        </p:txBody>
      </p:sp>
      <p:sp>
        <p:nvSpPr>
          <p:cNvPr id="200" name="Google Shape;200;p10"/>
          <p:cNvSpPr/>
          <p:nvPr/>
        </p:nvSpPr>
        <p:spPr>
          <a:xfrm>
            <a:off x="723900" y="1743075"/>
            <a:ext cx="10477500" cy="704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900">
                <a:solidFill>
                  <a:srgbClr val="F1A24A"/>
                </a:solidFill>
              </a:rPr>
              <a:t>...3778</a:t>
            </a:r>
            <a:endParaRPr/>
          </a:p>
        </p:txBody>
      </p:sp>
      <p:sp>
        <p:nvSpPr>
          <p:cNvPr id="201" name="Google Shape;201;p10"/>
          <p:cNvSpPr/>
          <p:nvPr/>
        </p:nvSpPr>
        <p:spPr>
          <a:xfrm>
            <a:off x="723900" y="2733675"/>
            <a:ext cx="5905500" cy="571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50">
                <a:solidFill>
                  <a:srgbClr val="F8F7F2"/>
                </a:solidFill>
              </a:rPr>
              <a:t>GORDEI GLEBOV</a:t>
            </a:r>
            <a:endParaRPr/>
          </a:p>
        </p:txBody>
      </p:sp>
      <p:sp>
        <p:nvSpPr>
          <p:cNvPr id="202" name="Google Shape;202;p10"/>
          <p:cNvSpPr/>
          <p:nvPr/>
        </p:nvSpPr>
        <p:spPr>
          <a:xfrm>
            <a:off x="7010400" y="2733675"/>
            <a:ext cx="4143375" cy="571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250">
                <a:solidFill>
                  <a:srgbClr val="BDCDD3"/>
                </a:solidFill>
              </a:rPr>
              <a:t>1982-12-31</a:t>
            </a:r>
            <a:endParaRPr/>
          </a:p>
        </p:txBody>
      </p:sp>
      <p:sp>
        <p:nvSpPr>
          <p:cNvPr id="203" name="Google Shape;203;p10"/>
          <p:cNvSpPr/>
          <p:nvPr/>
        </p:nvSpPr>
        <p:spPr>
          <a:xfrm>
            <a:off x="647700" y="3571875"/>
            <a:ext cx="10763250" cy="19050"/>
          </a:xfrm>
          <a:prstGeom prst="rect">
            <a:avLst/>
          </a:prstGeom>
          <a:solidFill>
            <a:srgbClr val="2F4C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p:nvPr/>
        </p:nvSpPr>
        <p:spPr>
          <a:xfrm>
            <a:off x="723900" y="3895725"/>
            <a:ext cx="5905500" cy="571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50">
                <a:solidFill>
                  <a:srgbClr val="F8F7F2"/>
                </a:solidFill>
              </a:rPr>
              <a:t>RAMIL BUROV</a:t>
            </a:r>
            <a:endParaRPr/>
          </a:p>
        </p:txBody>
      </p:sp>
      <p:sp>
        <p:nvSpPr>
          <p:cNvPr id="205" name="Google Shape;205;p10"/>
          <p:cNvSpPr/>
          <p:nvPr/>
        </p:nvSpPr>
        <p:spPr>
          <a:xfrm>
            <a:off x="7010400" y="3895725"/>
            <a:ext cx="4143375" cy="571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250">
                <a:solidFill>
                  <a:srgbClr val="BDCDD3"/>
                </a:solidFill>
              </a:rPr>
              <a:t>1995-08-24</a:t>
            </a:r>
            <a:endParaRPr/>
          </a:p>
        </p:txBody>
      </p:sp>
      <p:sp>
        <p:nvSpPr>
          <p:cNvPr id="206" name="Google Shape;206;p10"/>
          <p:cNvSpPr/>
          <p:nvPr/>
        </p:nvSpPr>
        <p:spPr>
          <a:xfrm>
            <a:off x="723900" y="5219700"/>
            <a:ext cx="10287000" cy="6000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75">
                <a:solidFill>
                  <a:srgbClr val="F1A24A"/>
                </a:solidFill>
              </a:rPr>
              <a:t>Экспертная</a:t>
            </a:r>
            <a:r>
              <a:rPr b="1" lang="en-US" sz="2175">
                <a:solidFill>
                  <a:srgbClr val="F1A24A"/>
                </a:solidFill>
              </a:rPr>
              <a:t> проверка команды: найден шпион</a:t>
            </a:r>
            <a:endParaRPr/>
          </a:p>
        </p:txBody>
      </p:sp>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A25"/>
        </a:solidFill>
      </p:bgPr>
    </p:bg>
    <p:spTree>
      <p:nvGrpSpPr>
        <p:cNvPr id="211" name="Shape 211"/>
        <p:cNvGrpSpPr/>
        <p:nvPr/>
      </p:nvGrpSpPr>
      <p:grpSpPr>
        <a:xfrm>
          <a:off x="0" y="0"/>
          <a:ext cx="0" cy="0"/>
          <a:chOff x="0" y="0"/>
          <a:chExt cx="0" cy="0"/>
        </a:xfrm>
      </p:grpSpPr>
      <p:sp>
        <p:nvSpPr>
          <p:cNvPr id="212" name="Google Shape;212;p14"/>
          <p:cNvSpPr/>
          <p:nvPr/>
        </p:nvSpPr>
        <p:spPr>
          <a:xfrm>
            <a:off x="609600" y="419100"/>
            <a:ext cx="10572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775">
                <a:solidFill>
                  <a:srgbClr val="F8F7F2"/>
                </a:solidFill>
              </a:rPr>
              <a:t>Воронка отбора</a:t>
            </a:r>
            <a:endParaRPr/>
          </a:p>
        </p:txBody>
      </p:sp>
      <p:sp>
        <p:nvSpPr>
          <p:cNvPr id="213" name="Google Shape;213;p14"/>
          <p:cNvSpPr/>
          <p:nvPr/>
        </p:nvSpPr>
        <p:spPr>
          <a:xfrm>
            <a:off x="609600" y="1228725"/>
            <a:ext cx="10972800" cy="19050"/>
          </a:xfrm>
          <a:prstGeom prst="rect">
            <a:avLst/>
          </a:prstGeom>
          <a:solidFill>
            <a:srgbClr val="2F4C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4"/>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89A0AB"/>
                </a:solidFill>
              </a:rPr>
              <a:t>14</a:t>
            </a:r>
            <a:endParaRPr/>
          </a:p>
        </p:txBody>
      </p:sp>
      <p:sp>
        <p:nvSpPr>
          <p:cNvPr id="215" name="Google Shape;215;p14"/>
          <p:cNvSpPr/>
          <p:nvPr/>
        </p:nvSpPr>
        <p:spPr>
          <a:xfrm>
            <a:off x="733425" y="1619250"/>
            <a:ext cx="5524500" cy="1066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5700">
                <a:solidFill>
                  <a:srgbClr val="F8F7F2"/>
                </a:solidFill>
              </a:rPr>
              <a:t>101 662</a:t>
            </a:r>
            <a:endParaRPr/>
          </a:p>
        </p:txBody>
      </p:sp>
      <p:sp>
        <p:nvSpPr>
          <p:cNvPr id="216" name="Google Shape;216;p14"/>
          <p:cNvSpPr/>
          <p:nvPr/>
        </p:nvSpPr>
        <p:spPr>
          <a:xfrm>
            <a:off x="733425" y="2686050"/>
            <a:ext cx="5524500" cy="4762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725">
                <a:solidFill>
                  <a:srgbClr val="AEC0C8"/>
                </a:solidFill>
              </a:rPr>
              <a:t>значения документа</a:t>
            </a:r>
            <a:endParaRPr/>
          </a:p>
        </p:txBody>
      </p:sp>
      <p:sp>
        <p:nvSpPr>
          <p:cNvPr id="217" name="Google Shape;217;p14"/>
          <p:cNvSpPr/>
          <p:nvPr/>
        </p:nvSpPr>
        <p:spPr>
          <a:xfrm>
            <a:off x="6524625" y="1619250"/>
            <a:ext cx="5524500" cy="1066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5700">
                <a:solidFill>
                  <a:srgbClr val="F8F7F2"/>
                </a:solidFill>
              </a:rPr>
              <a:t>197</a:t>
            </a:r>
            <a:endParaRPr/>
          </a:p>
        </p:txBody>
      </p:sp>
      <p:sp>
        <p:nvSpPr>
          <p:cNvPr id="218" name="Google Shape;218;p14"/>
          <p:cNvSpPr/>
          <p:nvPr/>
        </p:nvSpPr>
        <p:spPr>
          <a:xfrm>
            <a:off x="6524625" y="2686050"/>
            <a:ext cx="5524500" cy="4762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725">
                <a:solidFill>
                  <a:srgbClr val="AEC0C8"/>
                </a:solidFill>
              </a:rPr>
              <a:t>хотя бы один критерий</a:t>
            </a:r>
            <a:endParaRPr/>
          </a:p>
        </p:txBody>
      </p:sp>
      <p:sp>
        <p:nvSpPr>
          <p:cNvPr id="219" name="Google Shape;219;p14"/>
          <p:cNvSpPr/>
          <p:nvPr/>
        </p:nvSpPr>
        <p:spPr>
          <a:xfrm>
            <a:off x="647700" y="4124325"/>
            <a:ext cx="10763250" cy="19050"/>
          </a:xfrm>
          <a:prstGeom prst="rect">
            <a:avLst/>
          </a:prstGeom>
          <a:solidFill>
            <a:srgbClr val="2F4C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4"/>
          <p:cNvSpPr/>
          <p:nvPr/>
        </p:nvSpPr>
        <p:spPr>
          <a:xfrm>
            <a:off x="733425" y="4391025"/>
            <a:ext cx="10382250" cy="1047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6300">
                <a:solidFill>
                  <a:srgbClr val="F1A24A"/>
                </a:solidFill>
              </a:rPr>
              <a:t>50</a:t>
            </a:r>
            <a:endParaRPr/>
          </a:p>
        </p:txBody>
      </p:sp>
      <p:sp>
        <p:nvSpPr>
          <p:cNvPr id="221" name="Google Shape;221;p14"/>
          <p:cNvSpPr/>
          <p:nvPr/>
        </p:nvSpPr>
        <p:spPr>
          <a:xfrm>
            <a:off x="3781425" y="4600575"/>
            <a:ext cx="752475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325">
                <a:solidFill>
                  <a:srgbClr val="C9D9DF"/>
                </a:solidFill>
              </a:rPr>
              <a:t>два критерия или больше</a:t>
            </a:r>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9"/>
        </a:solidFill>
      </p:bgPr>
    </p:bg>
    <p:spTree>
      <p:nvGrpSpPr>
        <p:cNvPr id="226" name="Shape 226"/>
        <p:cNvGrpSpPr/>
        <p:nvPr/>
      </p:nvGrpSpPr>
      <p:grpSpPr>
        <a:xfrm>
          <a:off x="0" y="0"/>
          <a:ext cx="0" cy="0"/>
          <a:chOff x="0" y="0"/>
          <a:chExt cx="0" cy="0"/>
        </a:xfrm>
      </p:grpSpPr>
      <p:sp>
        <p:nvSpPr>
          <p:cNvPr id="227" name="Google Shape;227;p15"/>
          <p:cNvSpPr/>
          <p:nvPr/>
        </p:nvSpPr>
        <p:spPr>
          <a:xfrm>
            <a:off x="609600" y="419100"/>
            <a:ext cx="10572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775">
                <a:solidFill>
                  <a:srgbClr val="142735"/>
                </a:solidFill>
              </a:rPr>
              <a:t>Почему главный случай вышел первым</a:t>
            </a:r>
            <a:endParaRPr/>
          </a:p>
        </p:txBody>
      </p:sp>
      <p:sp>
        <p:nvSpPr>
          <p:cNvPr id="228" name="Google Shape;228;p15"/>
          <p:cNvSpPr/>
          <p:nvPr/>
        </p:nvSpPr>
        <p:spPr>
          <a:xfrm>
            <a:off x="609600" y="1228725"/>
            <a:ext cx="1097280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5"/>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5C6E76"/>
                </a:solidFill>
              </a:rPr>
              <a:t>15</a:t>
            </a:r>
            <a:endParaRPr/>
          </a:p>
        </p:txBody>
      </p:sp>
      <p:sp>
        <p:nvSpPr>
          <p:cNvPr id="230" name="Google Shape;230;p15"/>
          <p:cNvSpPr/>
          <p:nvPr/>
        </p:nvSpPr>
        <p:spPr>
          <a:xfrm>
            <a:off x="733425" y="1847850"/>
            <a:ext cx="5238750" cy="80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5250">
                <a:solidFill>
                  <a:srgbClr val="D56F4B"/>
                </a:solidFill>
              </a:rPr>
              <a:t>8</a:t>
            </a:r>
            <a:endParaRPr/>
          </a:p>
        </p:txBody>
      </p:sp>
      <p:sp>
        <p:nvSpPr>
          <p:cNvPr id="231" name="Google Shape;231;p15"/>
          <p:cNvSpPr/>
          <p:nvPr/>
        </p:nvSpPr>
        <p:spPr>
          <a:xfrm>
            <a:off x="2333625" y="2038350"/>
            <a:ext cx="8572500" cy="571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325">
                <a:solidFill>
                  <a:srgbClr val="142735"/>
                </a:solidFill>
              </a:rPr>
              <a:t>разные имена по документу</a:t>
            </a:r>
            <a:endParaRPr/>
          </a:p>
        </p:txBody>
      </p:sp>
      <p:sp>
        <p:nvSpPr>
          <p:cNvPr id="232" name="Google Shape;232;p15"/>
          <p:cNvSpPr/>
          <p:nvPr/>
        </p:nvSpPr>
        <p:spPr>
          <a:xfrm>
            <a:off x="733425" y="3105150"/>
            <a:ext cx="5238750" cy="80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5250">
                <a:solidFill>
                  <a:srgbClr val="D56F4B"/>
                </a:solidFill>
              </a:rPr>
              <a:t>7</a:t>
            </a:r>
            <a:endParaRPr/>
          </a:p>
        </p:txBody>
      </p:sp>
      <p:sp>
        <p:nvSpPr>
          <p:cNvPr id="233" name="Google Shape;233;p15"/>
          <p:cNvSpPr/>
          <p:nvPr/>
        </p:nvSpPr>
        <p:spPr>
          <a:xfrm>
            <a:off x="2333625" y="3295650"/>
            <a:ext cx="8572500" cy="571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325">
                <a:solidFill>
                  <a:srgbClr val="142735"/>
                </a:solidFill>
              </a:rPr>
              <a:t>разные даты рождения</a:t>
            </a:r>
            <a:endParaRPr/>
          </a:p>
        </p:txBody>
      </p:sp>
      <p:sp>
        <p:nvSpPr>
          <p:cNvPr id="234" name="Google Shape;234;p15"/>
          <p:cNvSpPr/>
          <p:nvPr/>
        </p:nvSpPr>
        <p:spPr>
          <a:xfrm>
            <a:off x="647700" y="4267200"/>
            <a:ext cx="1076325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5"/>
          <p:cNvSpPr/>
          <p:nvPr/>
        </p:nvSpPr>
        <p:spPr>
          <a:xfrm>
            <a:off x="733425" y="4657725"/>
            <a:ext cx="9906000" cy="9048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950">
                <a:solidFill>
                  <a:srgbClr val="142735"/>
                </a:solidFill>
              </a:rPr>
              <a:t>15 баллов</a:t>
            </a:r>
            <a:endParaRPr/>
          </a:p>
        </p:txBody>
      </p:sp>
      <p:sp>
        <p:nvSpPr>
          <p:cNvPr id="236" name="Google Shape;236;p15"/>
          <p:cNvSpPr/>
          <p:nvPr/>
        </p:nvSpPr>
        <p:spPr>
          <a:xfrm>
            <a:off x="733425" y="5629275"/>
            <a:ext cx="9906000"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650">
                <a:solidFill>
                  <a:srgbClr val="5C6E76"/>
                </a:solidFill>
              </a:rPr>
              <a:t>Порядок проверки, а не вероятность шпионажа</a:t>
            </a:r>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9"/>
        </a:solidFill>
      </p:bgPr>
    </p:bg>
    <p:spTree>
      <p:nvGrpSpPr>
        <p:cNvPr id="241" name="Shape 241"/>
        <p:cNvGrpSpPr/>
        <p:nvPr/>
      </p:nvGrpSpPr>
      <p:grpSpPr>
        <a:xfrm>
          <a:off x="0" y="0"/>
          <a:ext cx="0" cy="0"/>
          <a:chOff x="0" y="0"/>
          <a:chExt cx="0" cy="0"/>
        </a:xfrm>
      </p:grpSpPr>
      <p:sp>
        <p:nvSpPr>
          <p:cNvPr id="242" name="Google Shape;242;p16"/>
          <p:cNvSpPr/>
          <p:nvPr/>
        </p:nvSpPr>
        <p:spPr>
          <a:xfrm>
            <a:off x="609600" y="419100"/>
            <a:ext cx="10572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775">
                <a:solidFill>
                  <a:srgbClr val="142735"/>
                </a:solidFill>
              </a:rPr>
              <a:t>Второй случай пока под подозрением</a:t>
            </a:r>
            <a:endParaRPr/>
          </a:p>
        </p:txBody>
      </p:sp>
      <p:sp>
        <p:nvSpPr>
          <p:cNvPr id="243" name="Google Shape;243;p16"/>
          <p:cNvSpPr/>
          <p:nvPr/>
        </p:nvSpPr>
        <p:spPr>
          <a:xfrm>
            <a:off x="609600" y="1228725"/>
            <a:ext cx="1097280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6"/>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5C6E76"/>
                </a:solidFill>
              </a:rPr>
              <a:t>16</a:t>
            </a:r>
            <a:endParaRPr/>
          </a:p>
        </p:txBody>
      </p:sp>
      <p:sp>
        <p:nvSpPr>
          <p:cNvPr id="245" name="Google Shape;245;p16"/>
          <p:cNvSpPr/>
          <p:nvPr/>
        </p:nvSpPr>
        <p:spPr>
          <a:xfrm>
            <a:off x="733425" y="1724025"/>
            <a:ext cx="10287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225">
                <a:solidFill>
                  <a:srgbClr val="142735"/>
                </a:solidFill>
              </a:rPr>
              <a:t>NATALIA ROMANOVA</a:t>
            </a:r>
            <a:endParaRPr/>
          </a:p>
        </p:txBody>
      </p:sp>
      <p:sp>
        <p:nvSpPr>
          <p:cNvPr id="246" name="Google Shape;246;p16"/>
          <p:cNvSpPr/>
          <p:nvPr/>
        </p:nvSpPr>
        <p:spPr>
          <a:xfrm>
            <a:off x="733425" y="2686050"/>
            <a:ext cx="10287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325">
                <a:solidFill>
                  <a:srgbClr val="347E83"/>
                </a:solidFill>
              </a:rPr>
              <a:t>5 общих рейсов с одним пассажиром</a:t>
            </a:r>
            <a:endParaRPr/>
          </a:p>
        </p:txBody>
      </p:sp>
      <p:sp>
        <p:nvSpPr>
          <p:cNvPr id="247" name="Google Shape;247;p16"/>
          <p:cNvSpPr/>
          <p:nvPr/>
        </p:nvSpPr>
        <p:spPr>
          <a:xfrm>
            <a:off x="647700" y="3609975"/>
            <a:ext cx="1076325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6"/>
          <p:cNvSpPr/>
          <p:nvPr/>
        </p:nvSpPr>
        <p:spPr>
          <a:xfrm>
            <a:off x="733425" y="3905250"/>
            <a:ext cx="4762500" cy="590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025">
                <a:solidFill>
                  <a:srgbClr val="142735"/>
                </a:solidFill>
              </a:rPr>
              <a:t>14:30  ·  прилёт SU1491 в Россию</a:t>
            </a:r>
            <a:endParaRPr/>
          </a:p>
        </p:txBody>
      </p:sp>
      <p:sp>
        <p:nvSpPr>
          <p:cNvPr id="249" name="Google Shape;249;p16"/>
          <p:cNvSpPr/>
          <p:nvPr/>
        </p:nvSpPr>
        <p:spPr>
          <a:xfrm>
            <a:off x="6219825" y="3905250"/>
            <a:ext cx="5000625" cy="590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025">
                <a:solidFill>
                  <a:srgbClr val="142735"/>
                </a:solidFill>
              </a:rPr>
              <a:t>14:55  ·  вылет AZ404 из Италии!</a:t>
            </a:r>
            <a:endParaRPr/>
          </a:p>
        </p:txBody>
      </p:sp>
      <p:sp>
        <p:nvSpPr>
          <p:cNvPr id="250" name="Google Shape;250;p16"/>
          <p:cNvSpPr/>
          <p:nvPr/>
        </p:nvSpPr>
        <p:spPr>
          <a:xfrm>
            <a:off x="733425" y="5057775"/>
            <a:ext cx="10382250" cy="819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75">
                <a:solidFill>
                  <a:srgbClr val="D56F4B"/>
                </a:solidFill>
              </a:rPr>
              <a:t>25 минут по местным часам. Требуется пересчёт часовых поясов.</a:t>
            </a:r>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9"/>
        </a:solidFill>
      </p:bgPr>
    </p:bg>
    <p:spTree>
      <p:nvGrpSpPr>
        <p:cNvPr id="255" name="Shape 255"/>
        <p:cNvGrpSpPr/>
        <p:nvPr/>
      </p:nvGrpSpPr>
      <p:grpSpPr>
        <a:xfrm>
          <a:off x="0" y="0"/>
          <a:ext cx="0" cy="0"/>
          <a:chOff x="0" y="0"/>
          <a:chExt cx="0" cy="0"/>
        </a:xfrm>
      </p:grpSpPr>
      <p:sp>
        <p:nvSpPr>
          <p:cNvPr id="256" name="Google Shape;256;p17"/>
          <p:cNvSpPr/>
          <p:nvPr/>
        </p:nvSpPr>
        <p:spPr>
          <a:xfrm>
            <a:off x="609600" y="419100"/>
            <a:ext cx="10572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775">
                <a:solidFill>
                  <a:srgbClr val="142735"/>
                </a:solidFill>
              </a:rPr>
              <a:t>Что подтверждено, а что проверять</a:t>
            </a:r>
            <a:endParaRPr/>
          </a:p>
        </p:txBody>
      </p:sp>
      <p:sp>
        <p:nvSpPr>
          <p:cNvPr id="257" name="Google Shape;257;p17"/>
          <p:cNvSpPr/>
          <p:nvPr/>
        </p:nvSpPr>
        <p:spPr>
          <a:xfrm>
            <a:off x="609600" y="1228725"/>
            <a:ext cx="1097280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7"/>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5C6E76"/>
                </a:solidFill>
              </a:rPr>
              <a:t>17</a:t>
            </a:r>
            <a:endParaRPr/>
          </a:p>
        </p:txBody>
      </p:sp>
      <p:sp>
        <p:nvSpPr>
          <p:cNvPr id="259" name="Google Shape;259;p17"/>
          <p:cNvSpPr/>
          <p:nvPr/>
        </p:nvSpPr>
        <p:spPr>
          <a:xfrm>
            <a:off x="733425" y="1752600"/>
            <a:ext cx="9810750" cy="6286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50">
                <a:solidFill>
                  <a:srgbClr val="142735"/>
                </a:solidFill>
              </a:rPr>
              <a:t>Главный случай </a:t>
            </a:r>
            <a:r>
              <a:rPr b="1" lang="en-US" sz="2550">
                <a:solidFill>
                  <a:srgbClr val="142735"/>
                </a:solidFill>
              </a:rPr>
              <a:t>подтвержден</a:t>
            </a:r>
            <a:r>
              <a:rPr b="1" lang="en-US" sz="2550">
                <a:solidFill>
                  <a:srgbClr val="142735"/>
                </a:solidFill>
              </a:rPr>
              <a:t> командой</a:t>
            </a:r>
            <a:endParaRPr/>
          </a:p>
        </p:txBody>
      </p:sp>
      <p:sp>
        <p:nvSpPr>
          <p:cNvPr id="260" name="Google Shape;260;p17"/>
          <p:cNvSpPr/>
          <p:nvPr/>
        </p:nvSpPr>
        <p:spPr>
          <a:xfrm>
            <a:off x="733425" y="2657475"/>
            <a:ext cx="9810750" cy="6286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325">
                <a:solidFill>
                  <a:srgbClr val="5C6E76"/>
                </a:solidFill>
              </a:rPr>
              <a:t>Остальные 49 — очередь для исследования</a:t>
            </a:r>
            <a:endParaRPr/>
          </a:p>
        </p:txBody>
      </p:sp>
      <p:sp>
        <p:nvSpPr>
          <p:cNvPr id="261" name="Google Shape;261;p17"/>
          <p:cNvSpPr/>
          <p:nvPr/>
        </p:nvSpPr>
        <p:spPr>
          <a:xfrm>
            <a:off x="647700" y="3676650"/>
            <a:ext cx="10763250" cy="19050"/>
          </a:xfrm>
          <a:prstGeom prst="rect">
            <a:avLst/>
          </a:prstGeom>
          <a:solidFill>
            <a:srgbClr val="C6C8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7"/>
          <p:cNvSpPr/>
          <p:nvPr/>
        </p:nvSpPr>
        <p:spPr>
          <a:xfrm>
            <a:off x="733425" y="4019550"/>
            <a:ext cx="10191750" cy="87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75">
                <a:solidFill>
                  <a:srgbClr val="D56F4B"/>
                </a:solidFill>
              </a:rPr>
              <a:t>Временные сигналы: местное время аэропортов</a:t>
            </a:r>
            <a:endParaRPr/>
          </a:p>
          <a:p>
            <a:pPr indent="0" lvl="0" marL="0" marR="0" rtl="0" algn="l">
              <a:spcBef>
                <a:spcPts val="0"/>
              </a:spcBef>
              <a:spcAft>
                <a:spcPts val="0"/>
              </a:spcAft>
              <a:buNone/>
            </a:pPr>
            <a:r>
              <a:rPr b="1" lang="en-US" sz="2175">
                <a:solidFill>
                  <a:srgbClr val="D56F4B"/>
                </a:solidFill>
              </a:rPr>
              <a:t>без пересчёта часовых поясов.</a:t>
            </a:r>
            <a:endParaRPr/>
          </a:p>
        </p:txBody>
      </p:sp>
      <p:sp>
        <p:nvSpPr>
          <p:cNvPr id="263" name="Google Shape;263;p17"/>
          <p:cNvSpPr/>
          <p:nvPr/>
        </p:nvSpPr>
        <p:spPr>
          <a:xfrm>
            <a:off x="733425" y="5448300"/>
            <a:ext cx="10191750" cy="5238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650">
                <a:solidFill>
                  <a:srgbClr val="5C6E76"/>
                </a:solidFill>
              </a:rPr>
              <a:t>Посадочные данные и билеты сверяем с документом и рейсом.</a:t>
            </a:r>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A25"/>
        </a:solidFill>
      </p:bgPr>
    </p:bg>
    <p:spTree>
      <p:nvGrpSpPr>
        <p:cNvPr id="268" name="Shape 268"/>
        <p:cNvGrpSpPr/>
        <p:nvPr/>
      </p:nvGrpSpPr>
      <p:grpSpPr>
        <a:xfrm>
          <a:off x="0" y="0"/>
          <a:ext cx="0" cy="0"/>
          <a:chOff x="0" y="0"/>
          <a:chExt cx="0" cy="0"/>
        </a:xfrm>
      </p:grpSpPr>
      <p:sp>
        <p:nvSpPr>
          <p:cNvPr id="269" name="Google Shape;269;p18"/>
          <p:cNvSpPr/>
          <p:nvPr/>
        </p:nvSpPr>
        <p:spPr>
          <a:xfrm>
            <a:off x="609600" y="1228725"/>
            <a:ext cx="10972800" cy="19050"/>
          </a:xfrm>
          <a:prstGeom prst="rect">
            <a:avLst/>
          </a:prstGeom>
          <a:solidFill>
            <a:srgbClr val="2F4C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8"/>
          <p:cNvSpPr/>
          <p:nvPr/>
        </p:nvSpPr>
        <p:spPr>
          <a:xfrm>
            <a:off x="11163300" y="6181725"/>
            <a:ext cx="419100" cy="238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25">
                <a:solidFill>
                  <a:srgbClr val="89A0AB"/>
                </a:solidFill>
              </a:rPr>
              <a:t>18</a:t>
            </a:r>
            <a:endParaRPr/>
          </a:p>
        </p:txBody>
      </p:sp>
      <p:sp>
        <p:nvSpPr>
          <p:cNvPr id="271" name="Google Shape;271;p18"/>
          <p:cNvSpPr/>
          <p:nvPr/>
        </p:nvSpPr>
        <p:spPr>
          <a:xfrm>
            <a:off x="733425" y="1819275"/>
            <a:ext cx="857250" cy="85725"/>
          </a:xfrm>
          <a:prstGeom prst="rect">
            <a:avLst/>
          </a:prstGeom>
          <a:solidFill>
            <a:srgbClr val="F1A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8"/>
          <p:cNvSpPr/>
          <p:nvPr/>
        </p:nvSpPr>
        <p:spPr>
          <a:xfrm>
            <a:off x="733425" y="2352675"/>
            <a:ext cx="10477500" cy="15049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500">
                <a:solidFill>
                  <a:schemeClr val="lt1"/>
                </a:solidFill>
              </a:rPr>
              <a:t>Спасибо за внимание</a:t>
            </a:r>
            <a:endParaRPr b="1" sz="4500">
              <a:solidFill>
                <a:schemeClr val="lt1"/>
              </a:solidFill>
            </a:endParaRPr>
          </a:p>
        </p:txBody>
      </p:sp>
      <p:pic>
        <p:nvPicPr>
          <p:cNvPr descr="Animated passenger aircraft" id="273" name="Google Shape;273;p18"/>
          <p:cNvPicPr preferRelativeResize="0"/>
          <p:nvPr/>
        </p:nvPicPr>
        <p:blipFill rotWithShape="1">
          <a:blip r:embed="rId3">
            <a:alphaModFix/>
          </a:blip>
          <a:srcRect b="0" l="0" r="0" t="0"/>
          <a:stretch/>
        </p:blipFill>
        <p:spPr>
          <a:xfrm>
            <a:off x="93950" y="4188149"/>
            <a:ext cx="4302624" cy="2418949"/>
          </a:xfrm>
          <a:prstGeom prst="rect">
            <a:avLst/>
          </a:prstGeom>
          <a:noFill/>
          <a:ln>
            <a:noFill/>
          </a:ln>
        </p:spPr>
      </p:pic>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300" fill="hold"/>
                                        <p:tgtEl>
                                          <p:spTgt spid="273"/>
                                        </p:tgtEl>
                                        <p:attrNameLst>
                                          <p:attrName>r</p:attrName>
                                        </p:attrNameLst>
                                      </p:cBhvr>
                                    </p:animRot>
                                  </p:childTnLst>
                                </p:cTn>
                              </p:par>
                            </p:childTnLst>
                          </p:cTn>
                        </p:par>
                        <p:par>
                          <p:cTn fill="hold">
                            <p:stCondLst>
                              <p:cond delay="1300"/>
                            </p:stCondLst>
                            <p:childTnLst>
                              <p:par>
                                <p:cTn fill="hold" nodeType="afterEffect" presetClass="exit" presetID="2" presetSubtype="2">
                                  <p:stCondLst>
                                    <p:cond delay="0"/>
                                  </p:stCondLst>
                                  <p:childTnLst>
                                    <p:anim calcmode="lin" valueType="num">
                                      <p:cBhvr additive="base">
                                        <p:cTn dur="2500"/>
                                        <p:tgtEl>
                                          <p:spTgt spid="273"/>
                                        </p:tgtEl>
                                        <p:attrNameLst>
                                          <p:attrName>ppt_x</p:attrName>
                                        </p:attrNameLst>
                                      </p:cBhvr>
                                      <p:tavLst>
                                        <p:tav fmla="" tm="0">
                                          <p:val>
                                            <p:strVal val="#ppt_x"/>
                                          </p:val>
                                        </p:tav>
                                        <p:tav fmla="" tm="100000">
                                          <p:val>
                                            <p:strVal val="#ppt_x+1"/>
                                          </p:val>
                                        </p:tav>
                                      </p:tavLst>
                                    </p:anim>
                                    <p:set>
                                      <p:cBhvr>
                                        <p:cTn dur="1" fill="hold">
                                          <p:stCondLst>
                                            <p:cond delay="2500"/>
                                          </p:stCondLst>
                                        </p:cTn>
                                        <p:tgtEl>
                                          <p:spTgt spid="27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